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34"/>
  </p:notesMasterIdLst>
  <p:handoutMasterIdLst>
    <p:handoutMasterId r:id="rId35"/>
  </p:handoutMasterIdLst>
  <p:sldIdLst>
    <p:sldId id="256" r:id="rId2"/>
    <p:sldId id="293" r:id="rId3"/>
    <p:sldId id="289" r:id="rId4"/>
    <p:sldId id="290" r:id="rId5"/>
    <p:sldId id="288" r:id="rId6"/>
    <p:sldId id="291" r:id="rId7"/>
    <p:sldId id="292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2880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08" y="52"/>
      </p:cViewPr>
      <p:guideLst>
        <p:guide orient="horz" pos="1536"/>
        <p:guide pos="2880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413E0868-A453-BAC1-EDCC-D85849CB70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en-UG"/>
              <a:t>Banking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2ED835EB-BA0C-574F-1E70-8F70F788536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CE781C4-521A-45E9-A784-B690473DD751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B4642420-C0AE-AD21-31FA-B8FE427DD85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en-UG"/>
              <a:t>Chapter 1</a:t>
            </a:r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3515F3F5-C9C2-600F-68E0-A0F81777943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86AE93-C4BB-436D-ABCE-F9966A1C8FEC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CCC52EE-066C-B81B-41E6-16A3771132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en-UG"/>
              <a:t>Banking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BDA948E-D31F-D4C7-08AD-4A265F07C0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8D15F8F-DE68-4220-8EBC-E74FA7986C26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2D5E33B9-0A75-4BFD-A204-D27552273D3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D9A958B1-7D9A-CD11-5310-7F936F7449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G"/>
              <a:t>Click to edit Master text styles</a:t>
            </a:r>
          </a:p>
          <a:p>
            <a:pPr lvl="1"/>
            <a:r>
              <a:rPr lang="en-US" altLang="en-UG"/>
              <a:t>Second level</a:t>
            </a:r>
          </a:p>
          <a:p>
            <a:pPr lvl="2"/>
            <a:r>
              <a:rPr lang="en-US" altLang="en-UG"/>
              <a:t>Third level</a:t>
            </a:r>
          </a:p>
          <a:p>
            <a:pPr lvl="3"/>
            <a:r>
              <a:rPr lang="en-US" altLang="en-UG"/>
              <a:t>Fourth level</a:t>
            </a:r>
          </a:p>
          <a:p>
            <a:pPr lvl="4"/>
            <a:r>
              <a:rPr lang="en-US" altLang="en-UG"/>
              <a:t>Fifth level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D4F844F5-6121-9DC2-B1B8-24D7D99050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altLang="en-UG"/>
              <a:t>Chapter 1</a:t>
            </a:r>
          </a:p>
        </p:txBody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25864901-87E7-71F6-C571-2815F1BF52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3A2244-17CF-45DB-8ECC-DAEF44590331}" type="slidenum">
              <a:rPr lang="en-US" altLang="en-UG"/>
              <a:pPr/>
              <a:t>‹#›</a:t>
            </a:fld>
            <a:endParaRPr lang="en-US" altLang="en-U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F57CF28-47FC-6DE7-A134-6FDA5DE618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B43E225-052B-FD38-872F-636DC95DF2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3444CE-B626-7115-7960-0CF5A4BAA0D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021AAC4-A1F9-ECFE-436E-22A50355FD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1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33E57386-0348-7653-07B6-DEC707F95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15AFCAD-A3B9-5FEB-82F2-7259C711A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5851-E682-2844-4FF5-8317DD99D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74B0A2D-E979-D76A-1311-A2918F06D9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4C48349-12EC-B298-301D-4A6D82CA561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0F0DCB-52CB-9907-8270-891443F0A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DB602DA-CD22-C582-1CCB-8D8BAD1B48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2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C824B0A3-843B-FC37-6B24-B38B6CFC67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C5A7813-AAAE-B3BC-CA26-CC034BBDB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2720958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08F6-F326-445A-8000-18129BD1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116CD31-FE1E-99A8-EB49-33E3E7ECCA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0B37BEB-18D2-6B45-B071-C605C6ED0E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CAADA2-8AFA-3BD8-F8C1-72B42FB2E9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5AD18CD-F7F0-1389-B6AD-6CA739DE4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7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9D8294E7-81EE-0E96-0A27-B3896486EF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FE6DCB7-A53B-C1E1-CB33-396CA4D76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86939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D1196-FDBA-7BE5-4E25-1F3F98F4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1B3E364-0FE7-5319-1F98-745F4D6775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09AC53F-FFF3-F5C3-F357-9F45459A275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E6C1FB-6F94-3FB9-270B-DE84DAC730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21F8A9F-588A-EFB6-85D1-AA1BB03F91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9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154C2BB6-AAF3-CC7C-97A8-EF6B5189F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104AEE5-6FD3-3EC4-C7E4-A960A5651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557002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4A58-0111-2C23-1EAD-4BD628FD4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F82DA28-005F-7618-4294-A70CD07884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C6FBCFC-5053-0DB4-FF31-89A89F3ED4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D65E293-285F-41AA-D1BD-BA17215E7C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F44CC34-D879-31DF-2B1E-37023B2C5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12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BF32723E-C372-0B4A-27B9-B283DDFBC1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A9F1E23-FF59-CC04-D1F8-C92464149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2929560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036B9-D8B5-F48A-6786-1D526782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1D7F6E4-3D83-0070-A487-41070252C7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C9AACB2-8AC0-EAF7-F739-5364A95F5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A89E0DF-1296-C566-361B-E30F877AD5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FC47DE4-1FC1-3EBF-44C2-74B540D28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16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407F2C16-6444-1330-F65C-CBFA98E7B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5485B0F-0E02-0442-75BC-E34FFEFAF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2415334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C53B5-F26A-3046-7FC2-C85CE3ED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5D4085E-EC0D-3471-7331-CA0C9A29FD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534B8A9-7DC4-228F-416B-EFED1816F4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27B491-0991-B1CC-E0B0-139542ECD8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370E64B-F40B-A2E5-6BBE-28E659A40A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22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445CF994-D694-1FCB-2E72-9250FB689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42E4D2D-C56B-5B3E-EBD0-DE2EB6180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3700284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D3C83-CC54-49C6-646D-B6F6294D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57C26E8-C8A7-43A5-0096-25DE156B22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C54E125-EE28-9A49-7BBA-6172458991C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8AD13F-04D2-201A-91D6-9DF8BDB4DC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1B5334-049D-ABA0-E4F3-88382F2B75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27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DFC9B70E-E27E-A8E9-2D6B-DE2A2AB512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3A953617-91EE-28B2-78B4-C6E4A131A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1531539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1BF1-A733-6610-A893-D65217EA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06B9C35-53B0-CF36-48B5-C395206568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G"/>
              <a:t>Banking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308BA6D-C7CC-CF5B-49D5-20973E5D813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BE404601-5409-4916-ACC5-631589FF7894}" type="datetime1">
              <a:rPr lang="en-US" altLang="en-UG"/>
              <a:pPr/>
              <a:t>3/6/2026</a:t>
            </a:fld>
            <a:endParaRPr lang="en-US" altLang="en-UG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CFF05D9-232B-AD97-2C59-EE76EC9A6A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G"/>
              <a:t>Chapter 1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9FBC078-3418-2543-5C99-77DFCADAFE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506DE0-9EBE-410A-BF0A-89AC4ED81072}" type="slidenum">
              <a:rPr lang="en-US" altLang="en-UG"/>
              <a:pPr/>
              <a:t>30</a:t>
            </a:fld>
            <a:endParaRPr lang="en-US" altLang="en-UG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B1EA9731-9D87-F88B-51DF-1C704C0F5F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D3978BB-E7BC-98C0-823F-B5186C99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G" altLang="en-UG"/>
          </a:p>
        </p:txBody>
      </p:sp>
    </p:spTree>
    <p:extLst>
      <p:ext uri="{BB962C8B-B14F-4D97-AF65-F5344CB8AC3E}">
        <p14:creationId xmlns:p14="http://schemas.microsoft.com/office/powerpoint/2010/main" val="275265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352014D-6DC8-28C7-79D7-14B3CC645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7625"/>
            <a:ext cx="91440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G" sz="1500" dirty="0">
                <a:solidFill>
                  <a:srgbClr val="E0EDF0"/>
                </a:solidFill>
                <a:latin typeface="Arial Narrow" panose="020B0606020202030204" pitchFamily="34" charset="0"/>
              </a:rPr>
              <a:t>© Ainedembe Denis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59D7F9BA-8958-A1D2-9CA9-DE6D04E65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800"/>
            <a:ext cx="2011363" cy="4570413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G" altLang="en-UG"/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B6768F74-6C4B-19D1-AAC6-25ECA9B00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2743200"/>
          </a:xfrm>
          <a:prstGeom prst="rect">
            <a:avLst/>
          </a:prstGeom>
          <a:gradFill rotWithShape="0">
            <a:gsLst>
              <a:gs pos="0">
                <a:srgbClr val="0066CC"/>
              </a:gs>
              <a:gs pos="100000">
                <a:srgbClr val="E0EDF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G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3A913B70-44BD-F837-C183-B9E6CCEB27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81200" y="152400"/>
            <a:ext cx="6399213" cy="2422525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44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en-UG" noProof="0"/>
              <a:t>CLICK TO EDIT MASTER TITLE STYLE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74647E21-3EDE-893F-4F0E-C46A5372A4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0" y="3017838"/>
            <a:ext cx="7542213" cy="3382962"/>
          </a:xfrm>
        </p:spPr>
        <p:txBody>
          <a:bodyPr/>
          <a:lstStyle>
            <a:lvl1pPr marL="914400" indent="-914400">
              <a:buSzPct val="125000"/>
              <a:defRPr/>
            </a:lvl1pPr>
          </a:lstStyle>
          <a:p>
            <a:pPr lvl="0"/>
            <a:r>
              <a:rPr lang="en-US" altLang="en-UG" noProof="0" dirty="0"/>
              <a:t>Click to edit Master subtitle style</a:t>
            </a:r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EB5CA637-4E71-42C7-F711-59158B2876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 altLang="en-UG" dirty="0"/>
              <a:t>  </a:t>
            </a:r>
            <a:r>
              <a:rPr lang="en-US" altLang="en-UG" sz="1500" dirty="0"/>
              <a:t>Slide</a:t>
            </a:r>
            <a:r>
              <a:rPr lang="en-US" altLang="en-UG" sz="15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E9713479-D2C5-48C2-AEF2-300D23B2E6DD}" type="slidenum">
              <a:rPr lang="en-US" altLang="en-UG" sz="1500" smtClean="0"/>
              <a:pPr/>
              <a:t>‹#›</a:t>
            </a:fld>
            <a:endParaRPr lang="en-US" altLang="en-UG" sz="1500" dirty="0"/>
          </a:p>
        </p:txBody>
      </p:sp>
      <p:grpSp>
        <p:nvGrpSpPr>
          <p:cNvPr id="81928" name="Group 8">
            <a:extLst>
              <a:ext uri="{FF2B5EF4-FFF2-40B4-BE49-F238E27FC236}">
                <a16:creationId xmlns:a16="http://schemas.microsoft.com/office/drawing/2014/main" id="{3197CFB6-5C1F-0952-2A9B-C71DD9A547EE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04800"/>
            <a:ext cx="3078163" cy="182563"/>
            <a:chOff x="3696" y="192"/>
            <a:chExt cx="1939" cy="115"/>
          </a:xfrm>
        </p:grpSpPr>
        <p:sp>
          <p:nvSpPr>
            <p:cNvPr id="81929" name="Oval 9">
              <a:extLst>
                <a:ext uri="{FF2B5EF4-FFF2-40B4-BE49-F238E27FC236}">
                  <a16:creationId xmlns:a16="http://schemas.microsoft.com/office/drawing/2014/main" id="{75EC4EF0-7A0D-12EA-FD34-9A04CFF7A1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696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  <p:sp>
          <p:nvSpPr>
            <p:cNvPr id="81930" name="Oval 10">
              <a:extLst>
                <a:ext uri="{FF2B5EF4-FFF2-40B4-BE49-F238E27FC236}">
                  <a16:creationId xmlns:a16="http://schemas.microsoft.com/office/drawing/2014/main" id="{028F0865-11DD-9C4B-FE1A-99B864C968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000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  <p:sp>
          <p:nvSpPr>
            <p:cNvPr id="81931" name="Oval 11">
              <a:extLst>
                <a:ext uri="{FF2B5EF4-FFF2-40B4-BE49-F238E27FC236}">
                  <a16:creationId xmlns:a16="http://schemas.microsoft.com/office/drawing/2014/main" id="{64AAC666-DA55-26A1-40F2-D60429C5482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304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  <p:sp>
          <p:nvSpPr>
            <p:cNvPr id="81932" name="Oval 12">
              <a:extLst>
                <a:ext uri="{FF2B5EF4-FFF2-40B4-BE49-F238E27FC236}">
                  <a16:creationId xmlns:a16="http://schemas.microsoft.com/office/drawing/2014/main" id="{954C28E5-928B-3F61-5410-497E36C7E1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08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  <p:sp>
          <p:nvSpPr>
            <p:cNvPr id="81933" name="Oval 13">
              <a:extLst>
                <a:ext uri="{FF2B5EF4-FFF2-40B4-BE49-F238E27FC236}">
                  <a16:creationId xmlns:a16="http://schemas.microsoft.com/office/drawing/2014/main" id="{B90B39B9-1EFC-458C-6845-7222136B689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12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  <p:sp>
          <p:nvSpPr>
            <p:cNvPr id="81934" name="Oval 14">
              <a:extLst>
                <a:ext uri="{FF2B5EF4-FFF2-40B4-BE49-F238E27FC236}">
                  <a16:creationId xmlns:a16="http://schemas.microsoft.com/office/drawing/2014/main" id="{E27F702D-6196-51DA-8923-37FC8CD744B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16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  <p:sp>
          <p:nvSpPr>
            <p:cNvPr id="81935" name="Oval 15">
              <a:extLst>
                <a:ext uri="{FF2B5EF4-FFF2-40B4-BE49-F238E27FC236}">
                  <a16:creationId xmlns:a16="http://schemas.microsoft.com/office/drawing/2014/main" id="{187251F4-EDF4-16BD-AD6D-EF3B18F6E92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520" y="192"/>
              <a:ext cx="115" cy="115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G"/>
            </a:p>
          </p:txBody>
        </p:sp>
      </p:grpSp>
    </p:spTree>
  </p:cSld>
  <p:clrMapOvr>
    <a:masterClrMapping/>
  </p:clrMapOvr>
  <p:transition spd="med">
    <p:cover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263A1-B477-8F53-3DED-C589AAFA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G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2915C-F051-A24E-E5D0-B309C60E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FC96C-152A-13D9-4A47-F6A98401A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96E1E-FEA7-3C2E-3FD7-753A4007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123AB89C-1184-422F-A25B-A3C3FCC3E457}" type="slidenum">
              <a:rPr lang="en-US" altLang="en-UG" smtClean="0"/>
              <a:pPr/>
              <a:t>‹#›</a:t>
            </a:fld>
            <a:endParaRPr lang="en-US" altLang="en-UG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3735E7B-2EC1-2B87-7F59-98F83AE5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03634136"/>
      </p:ext>
    </p:extLst>
  </p:cSld>
  <p:clrMapOvr>
    <a:masterClrMapping/>
  </p:clrMapOvr>
  <p:transition spd="med">
    <p:cover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4E6F-C4C8-54D5-F1C7-3F6D024A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CD6A2-DD6B-43F8-2A94-C81822A6A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E4D9A-56FA-F87E-DDBF-B5FAE277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34355-E807-F8C1-D102-0CB40C3B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9EBE-D6F8-E816-1865-A73F1FE8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41FDE60B-41D3-4066-92AC-8665FF8CB5B0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1645011376"/>
      </p:ext>
    </p:extLst>
  </p:cSld>
  <p:clrMapOvr>
    <a:masterClrMapping/>
  </p:clrMapOvr>
  <p:transition spd="med">
    <p:cover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0DEB-D353-268D-9847-9D1A2607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CC027-372C-B540-5DE6-3ACAF517A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570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5842D-B0B9-0E78-3313-1D962C136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570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19074-6D68-F76F-E174-20387F7B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76494-9176-2BF1-6415-A4E6A1967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19329-C8EC-9981-6BCC-D5D220A7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 dirty="0"/>
              <a:t>  Slide</a:t>
            </a:r>
            <a:r>
              <a:rPr lang="en-US" altLang="en-UG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CE7537B9-0BA9-4794-9A26-262DC9F881AD}" type="slidenum">
              <a:rPr lang="en-US" altLang="en-UG"/>
              <a:pPr/>
              <a:t>‹#›</a:t>
            </a:fld>
            <a:endParaRPr lang="en-US" altLang="en-UG" dirty="0"/>
          </a:p>
        </p:txBody>
      </p:sp>
    </p:spTree>
    <p:extLst>
      <p:ext uri="{BB962C8B-B14F-4D97-AF65-F5344CB8AC3E}">
        <p14:creationId xmlns:p14="http://schemas.microsoft.com/office/powerpoint/2010/main" val="4202081212"/>
      </p:ext>
    </p:extLst>
  </p:cSld>
  <p:clrMapOvr>
    <a:masterClrMapping/>
  </p:clrMapOvr>
  <p:transition spd="med">
    <p:cover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F024-CC2F-813E-4EF8-6FA71123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1EE5F-4F93-B93F-E2CB-7DAD183D9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0A393-79F8-059E-1F7A-ED6AA5F42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F9D57-FA59-8D1E-F394-B67664F91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C64FA-87EE-8103-519C-D7E675C0D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BC7D0-F537-01A3-FE78-E3768E07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EDADE8-5C6B-5CFC-688D-07079918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D036D9-EA12-B6FC-8A4F-D37ED732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F9D66D36-0F71-425A-B9F3-818A01125D51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216261472"/>
      </p:ext>
    </p:extLst>
  </p:cSld>
  <p:clrMapOvr>
    <a:masterClrMapping/>
  </p:clrMapOvr>
  <p:transition spd="med">
    <p:cover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D8C3-C520-86AC-B7C1-99F2FE80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3B404-0133-FD1F-BCBD-FCE80631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C3EAC-B9A8-D08D-D6B6-6DED0420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62154-77D5-4237-1283-CB9A865A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FD9CE47C-F90A-4653-9AF7-B918EDBB8A77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803087271"/>
      </p:ext>
    </p:extLst>
  </p:cSld>
  <p:clrMapOvr>
    <a:masterClrMapping/>
  </p:clrMapOvr>
  <p:transition spd="med">
    <p:cover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890F3-19A4-8C89-B3A2-4B26926E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3B9F2-5A88-05A9-84EC-2F53D467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1AD77-8F4B-BB98-9E6A-1BC5E0A8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D32CA754-6AA2-4E16-AB0A-63CCF004AE45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812406830"/>
      </p:ext>
    </p:extLst>
  </p:cSld>
  <p:clrMapOvr>
    <a:masterClrMapping/>
  </p:clrMapOvr>
  <p:transition spd="med">
    <p:cover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B709-B4FC-BD5A-EEDA-25AF931F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8A115-CFEC-B422-D84B-1B21A84D1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DAC05-BD50-2EAE-4247-7FE9FEE4F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13941-C7AA-3374-6043-739D6344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47799-6E7D-2788-3756-6AB78349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1B70B-AAD7-744C-D8AE-D264D2DCF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92DDF584-C563-4AF3-9C85-74AE268379EC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1669154459"/>
      </p:ext>
    </p:extLst>
  </p:cSld>
  <p:clrMapOvr>
    <a:masterClrMapping/>
  </p:clrMapOvr>
  <p:transition spd="med">
    <p:cover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DA78-5643-5201-C9A3-67173A42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AEADD1-A981-652F-2E3F-23DF0C9CC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9F367-EDD6-9710-0004-F8281B4C3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4D70C-8EAD-A3F2-9A46-BCC6E042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9757D-078C-DCE8-4D38-B7B59BE8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D770C-9D69-C42A-D2FE-C53191FB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1F8DE97C-F3F8-4995-ABC1-945329C93974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3549515415"/>
      </p:ext>
    </p:extLst>
  </p:cSld>
  <p:clrMapOvr>
    <a:masterClrMapping/>
  </p:clrMapOvr>
  <p:transition spd="med">
    <p:cover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0DAD-9D4A-CA7A-3FB1-051039CB7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51FFC-6540-837C-7D9B-3C1B94773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265B4-2B28-2FF4-1E52-C2E15FD9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1E71E-2C53-DF35-CF54-9161823C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4568-6B3A-75D9-4C3B-8A58A0D5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1C4BC210-7EA5-4C0F-AD45-5AE9BB47700C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1449404267"/>
      </p:ext>
    </p:extLst>
  </p:cSld>
  <p:clrMapOvr>
    <a:masterClrMapping/>
  </p:clrMapOvr>
  <p:transition spd="med">
    <p:cover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5F669-A345-2AD2-A96E-AE6253023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0525" y="457200"/>
            <a:ext cx="2170113" cy="5713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ADD31-025E-FC62-BA1C-44D5A7FEC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7013" y="457200"/>
            <a:ext cx="6361112" cy="5713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99163-EE44-6E4B-24CD-63247079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7FC43-74F8-EECA-49E0-A8E3FD16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AC50E-52C1-3A08-4BD8-AF457C35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182EEFDC-B650-41B7-9366-DE22AEB01362}" type="slidenum">
              <a:rPr lang="en-US" altLang="en-UG"/>
              <a:pPr/>
              <a:t>‹#›</a:t>
            </a:fld>
            <a:endParaRPr lang="en-US" altLang="en-UG"/>
          </a:p>
        </p:txBody>
      </p:sp>
    </p:spTree>
    <p:extLst>
      <p:ext uri="{BB962C8B-B14F-4D97-AF65-F5344CB8AC3E}">
        <p14:creationId xmlns:p14="http://schemas.microsoft.com/office/powerpoint/2010/main" val="314157448"/>
      </p:ext>
    </p:extLst>
  </p:cSld>
  <p:clrMapOvr>
    <a:masterClrMapping/>
  </p:clrMapOvr>
  <p:transition spd="med">
    <p:cover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7514279-1D69-D82A-37E3-DCCDD7EB8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1363" cy="6553200"/>
          </a:xfrm>
          <a:prstGeom prst="rect">
            <a:avLst/>
          </a:prstGeom>
          <a:gradFill rotWithShape="0">
            <a:gsLst>
              <a:gs pos="0">
                <a:srgbClr val="E0EDF0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G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6D805D8-7BBD-9079-7198-EDE168BCE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7013" y="457200"/>
            <a:ext cx="8683625" cy="685800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G"/>
              <a:t>CLICK TO EDIT MASTER TITLE STYLE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3CC01879-31A8-62D8-542B-20F84BBA7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57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G"/>
              <a:t>Click to edit Master text styles</a:t>
            </a:r>
          </a:p>
          <a:p>
            <a:pPr lvl="1"/>
            <a:r>
              <a:rPr lang="en-US" altLang="en-UG"/>
              <a:t>Second level</a:t>
            </a:r>
          </a:p>
          <a:p>
            <a:pPr lvl="2"/>
            <a:r>
              <a:rPr lang="en-US" altLang="en-UG"/>
              <a:t>Third level</a:t>
            </a:r>
          </a:p>
          <a:p>
            <a:pPr lvl="3"/>
            <a:r>
              <a:rPr lang="en-US" altLang="en-UG"/>
              <a:t>Fourth level</a:t>
            </a:r>
          </a:p>
          <a:p>
            <a:pPr lvl="4"/>
            <a:r>
              <a:rPr lang="en-US" altLang="en-UG"/>
              <a:t>Fifth level</a:t>
            </a:r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393A92DA-DBDC-2FE8-07FD-554EE3AA5A4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4114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G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FD4A09D7-AFDF-07AE-56CF-6EED8E9F1B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53200" y="480060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en-UG"/>
          </a:p>
        </p:txBody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C8C9467E-CA2B-74F3-C16A-709782718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97625"/>
            <a:ext cx="91440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G" dirty="0">
                <a:solidFill>
                  <a:srgbClr val="E0EDF0"/>
                </a:solidFill>
                <a:latin typeface="Arial Narrow" panose="020B0606020202030204" pitchFamily="34" charset="0"/>
              </a:rPr>
              <a:t>© Ainedembe Denis</a:t>
            </a:r>
          </a:p>
        </p:txBody>
      </p:sp>
      <p:sp>
        <p:nvSpPr>
          <p:cNvPr id="80904" name="Rectangle 8">
            <a:extLst>
              <a:ext uri="{FF2B5EF4-FFF2-40B4-BE49-F238E27FC236}">
                <a16:creationId xmlns:a16="http://schemas.microsoft.com/office/drawing/2014/main" id="{97A13079-6EA3-C7A4-266E-C1393F8ADC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97625"/>
            <a:ext cx="2011363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66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FFCC00"/>
                </a:solidFill>
                <a:latin typeface="+mn-lt"/>
              </a:defRPr>
            </a:lvl1pPr>
          </a:lstStyle>
          <a:p>
            <a:r>
              <a:rPr lang="en-US" altLang="en-UG"/>
              <a:t>  Slide</a:t>
            </a:r>
            <a:r>
              <a:rPr lang="en-US" altLang="en-UG" b="1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fld id="{123AB89C-1184-422F-A25B-A3C3FCC3E457}" type="slidenum">
              <a:rPr lang="en-US" altLang="en-UG"/>
              <a:pPr/>
              <a:t>‹#›</a:t>
            </a:fld>
            <a:endParaRPr lang="en-US" altLang="en-U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>
    <p:cover dir="u"/>
  </p:transition>
  <p:hf hdr="0" ftr="0" dt="0"/>
  <p:txStyles>
    <p:titleStyle>
      <a:lvl1pPr algn="l" rtl="0" fontAlgn="base">
        <a:spcBef>
          <a:spcPts val="60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l" rtl="0" fontAlgn="base">
        <a:spcBef>
          <a:spcPts val="600"/>
        </a:spcBef>
        <a:spcAft>
          <a:spcPct val="0"/>
        </a:spcAft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80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inedembe-Denis/Systems-Programing---C-PROJECTS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619C6C9-8419-6C23-829B-F690779533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8305800" cy="1752600"/>
          </a:xfrm>
        </p:spPr>
        <p:txBody>
          <a:bodyPr/>
          <a:lstStyle/>
          <a:p>
            <a:r>
              <a:rPr lang="en-US" altLang="en-UG" dirty="0"/>
              <a:t>ADVANCED SYSTEMS PROGRAMING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D011BC-0BDD-6423-FDC6-BA83AE529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728482"/>
              </p:ext>
            </p:extLst>
          </p:nvPr>
        </p:nvGraphicFramePr>
        <p:xfrm>
          <a:off x="2286000" y="3048000"/>
          <a:ext cx="6485694" cy="2268651"/>
        </p:xfrm>
        <a:graphic>
          <a:graphicData uri="http://schemas.openxmlformats.org/drawingml/2006/table">
            <a:tbl>
              <a:tblPr/>
              <a:tblGrid>
                <a:gridCol w="2507910">
                  <a:extLst>
                    <a:ext uri="{9D8B030D-6E8A-4147-A177-3AD203B41FA5}">
                      <a16:colId xmlns:a16="http://schemas.microsoft.com/office/drawing/2014/main" val="2833264311"/>
                    </a:ext>
                  </a:extLst>
                </a:gridCol>
                <a:gridCol w="3977784">
                  <a:extLst>
                    <a:ext uri="{9D8B030D-6E8A-4147-A177-3AD203B41FA5}">
                      <a16:colId xmlns:a16="http://schemas.microsoft.com/office/drawing/2014/main" val="2784720884"/>
                    </a:ext>
                  </a:extLst>
                </a:gridCol>
              </a:tblGrid>
              <a:tr h="49469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G" sz="300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Systems Programming - C Projects</a:t>
                      </a:r>
                    </a:p>
                  </a:txBody>
                  <a:tcPr marL="136991" marR="136991" marT="68496" marB="68496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084472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STUDENT NAME</a:t>
                      </a:r>
                    </a:p>
                    <a:p>
                      <a:pPr algn="l" fontAlgn="ctr">
                        <a:buNone/>
                      </a:pPr>
                      <a:endParaRPr lang="en-CA" sz="1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13" marR="9513" marT="95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AINEDEMBE DENIS</a:t>
                      </a:r>
                    </a:p>
                    <a:p>
                      <a:pPr algn="l" fontAlgn="ctr">
                        <a:buNone/>
                      </a:pPr>
                      <a:endParaRPr lang="en-CA" sz="1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13" marR="9513" marT="95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606296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REG. NO</a:t>
                      </a:r>
                    </a:p>
                    <a:p>
                      <a:pPr algn="l" fontAlgn="ctr">
                        <a:buNone/>
                      </a:pPr>
                      <a:endParaRPr lang="en-CA" sz="1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13" marR="9513" marT="95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2024-M132-23999</a:t>
                      </a:r>
                    </a:p>
                    <a:p>
                      <a:pPr algn="l" fontAlgn="ctr">
                        <a:buNone/>
                      </a:pPr>
                      <a:endParaRPr lang="en-CA" sz="1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13" marR="9513" marT="95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980039"/>
                  </a:ext>
                </a:extLst>
              </a:tr>
              <a:tr h="2949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LECTURER </a:t>
                      </a:r>
                    </a:p>
                    <a:p>
                      <a:pPr algn="l" fontAlgn="ctr">
                        <a:buNone/>
                      </a:pPr>
                      <a:endParaRPr lang="en-CA" sz="1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13" marR="9513" marT="95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CA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Dr. WAUYO FRED</a:t>
                      </a:r>
                    </a:p>
                    <a:p>
                      <a:pPr algn="l" fontAlgn="ctr">
                        <a:buNone/>
                      </a:pPr>
                      <a:endParaRPr lang="en-CA" sz="18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13" marR="9513" marT="95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4824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4157260-EAF0-52C3-D562-0A6293713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33400"/>
            <a:ext cx="1989894" cy="21104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C4332F-70D3-963B-507B-962959770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876800"/>
            <a:ext cx="1752600" cy="1752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99E248-BFDB-BC0D-1107-2161100C6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030220"/>
            <a:ext cx="1447800" cy="1447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336F9C-7517-44BD-9512-8E7DA3527A1A}"/>
              </a:ext>
            </a:extLst>
          </p:cNvPr>
          <p:cNvSpPr txBox="1"/>
          <p:nvPr/>
        </p:nvSpPr>
        <p:spPr>
          <a:xfrm>
            <a:off x="2225040" y="5839404"/>
            <a:ext cx="6546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G" sz="1600" dirty="0">
                <a:hlinkClick r:id="rId6"/>
              </a:rPr>
              <a:t>https://github.com/Ainedembe-Denis/Systems-Programing---C-PROJECTS</a:t>
            </a:r>
            <a:r>
              <a:rPr lang="en-US" sz="1600" dirty="0"/>
              <a:t> </a:t>
            </a:r>
            <a:endParaRPr lang="en-UG" sz="16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044B898-A2DA-17D3-E91D-8BB92C160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272" y="5492158"/>
            <a:ext cx="3289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14400" indent="-9144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125000"/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1800" dirty="0" err="1"/>
              <a:t>Github</a:t>
            </a:r>
            <a:r>
              <a:rPr lang="en-US" altLang="en-UG" sz="1800" dirty="0"/>
              <a:t> Repository:</a:t>
            </a:r>
          </a:p>
        </p:txBody>
      </p:sp>
    </p:spTree>
  </p:cSld>
  <p:clrMapOvr>
    <a:masterClrMapping/>
  </p:clrMapOvr>
  <p:transition spd="med">
    <p:cover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B8B1C-ED24-9D9F-FEF6-15C6227B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B7C25EEB-8985-0B98-CF76-C7AF2E0DA9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1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BFE61883-7AF1-A100-6DF6-0C0C090540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Bank Account Management System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C7FDBE9-18EE-2A09-5E71-06C0A925EB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1" y="2907506"/>
            <a:ext cx="7086600" cy="3188494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G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system for managing bank accounts. It supports:</a:t>
            </a:r>
          </a:p>
          <a:p>
            <a:pPr indent="-650875" algn="just"/>
            <a:r>
              <a:rPr lang="en-US" altLang="en-UG" sz="2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account creation, </a:t>
            </a:r>
          </a:p>
          <a:p>
            <a:pPr indent="-650875" algn="just"/>
            <a:r>
              <a:rPr lang="en-US" altLang="en-UG" sz="2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deposits,</a:t>
            </a:r>
          </a:p>
          <a:p>
            <a:pPr indent="-650875" algn="just"/>
            <a:r>
              <a:rPr lang="en-US" altLang="en-UG" sz="2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withdrawals,</a:t>
            </a:r>
          </a:p>
          <a:p>
            <a:pPr indent="-650875" algn="just"/>
            <a:r>
              <a:rPr lang="en-US" altLang="en-UG" sz="2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balance inquiries and</a:t>
            </a:r>
          </a:p>
          <a:p>
            <a:pPr indent="-650875" algn="just"/>
            <a:r>
              <a:rPr lang="en-US" altLang="en-UG" sz="25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account details inquiries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ED0C21B9-6EB3-E0A7-1914-05518591E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404813"/>
            <a:ext cx="1384300" cy="239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FB6E0F-991C-BC11-E999-7B31A98A3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886200"/>
            <a:ext cx="3201988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14400" indent="-9144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125000"/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/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Role-based access (Teller/Admin).</a:t>
            </a:r>
          </a:p>
          <a:p>
            <a:pPr marL="355600" indent="-355600"/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Multi-currency support (UGX/USD).</a:t>
            </a:r>
          </a:p>
          <a:p>
            <a:pPr marL="355600" indent="-355600"/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Minimum balance enforcement.</a:t>
            </a:r>
          </a:p>
          <a:p>
            <a:pPr marL="355600" indent="-355600"/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Audit logging.</a:t>
            </a:r>
            <a:endParaRPr lang="en-US" altLang="en-UG" sz="1600" dirty="0"/>
          </a:p>
        </p:txBody>
      </p:sp>
    </p:spTree>
    <p:extLst>
      <p:ext uri="{BB962C8B-B14F-4D97-AF65-F5344CB8AC3E}">
        <p14:creationId xmlns:p14="http://schemas.microsoft.com/office/powerpoint/2010/main" val="2459902390"/>
      </p:ext>
    </p:extLst>
  </p:cSld>
  <p:clrMapOvr>
    <a:masterClrMapping/>
  </p:clrMapOvr>
  <p:transition spd="med"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56EE1-2DF4-A1EB-CB42-FB2A8B4C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EE87-C493-3E48-2215-9F4A6AF4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sz="3000" dirty="0"/>
              <a:t>User Authentication, Authorization &amp; Logging</a:t>
            </a:r>
            <a:endParaRPr lang="en-UG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720A8-3DAC-618D-F6C8-315ED3FE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</a:t>
            </a:r>
            <a:r>
              <a:rPr lang="en-US" altLang="en-UG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altLang="en-UG" dirty="0"/>
              <a:t>2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C3658F-37C6-FCAA-C2A8-231D63DD8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3289935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Login as Teller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D1B6E-5774-9ADE-93EB-E4A754E65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1" t="9183"/>
          <a:stretch>
            <a:fillRect/>
          </a:stretch>
        </p:blipFill>
        <p:spPr>
          <a:xfrm>
            <a:off x="293053" y="1295399"/>
            <a:ext cx="3808180" cy="2260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3B00B2-ECC8-DC8F-3164-76234F93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83"/>
          <a:stretch>
            <a:fillRect/>
          </a:stretch>
        </p:blipFill>
        <p:spPr>
          <a:xfrm>
            <a:off x="4338322" y="1295400"/>
            <a:ext cx="4480558" cy="226059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79D8ED8-0FA1-2A2F-A6E1-758859D9A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838200"/>
            <a:ext cx="3289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Login as System Admin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65DA9E-A08B-8FF6-722D-E80E20807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884617"/>
            <a:ext cx="6690358" cy="2336789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A129C103-2FCA-679E-D6AF-E6B7AC635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6" y="4569616"/>
            <a:ext cx="1677987" cy="966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Audit Trail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1500" b="1" dirty="0"/>
              <a:t>- For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429572457"/>
      </p:ext>
    </p:extLst>
  </p:cSld>
  <p:clrMapOvr>
    <a:masterClrMapping/>
  </p:clrMapOvr>
  <p:transition spd="med"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BA4F-A9B8-3EDF-0A5E-3E4533D6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ACE1-F2AE-EA06-EE28-67F4B950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D30CC-4A67-3CA8-ABCF-218E5E0C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3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0D5594B-946A-C050-159E-9F71EADEB7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065" y="838200"/>
            <a:ext cx="3289935" cy="360204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Create New Account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3F259E4-2A2F-026D-C2AE-961B1308B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838200"/>
            <a:ext cx="3289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Account Inquiry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309476-A1E8-5117-7886-2B72FB55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4" y="1252904"/>
            <a:ext cx="3719882" cy="22522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4C066C-5B89-DA14-7F42-DE8646530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73" y="3984576"/>
            <a:ext cx="3648499" cy="2316053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693896E2-7CFD-D34A-9CCB-1042FB7EC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05200"/>
            <a:ext cx="368247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Deposit money to account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A77436-CCCB-1F82-2E4F-C44267F21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427" y="1252904"/>
            <a:ext cx="3429000" cy="23991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FF4D4A-FFA0-91D2-B9EB-E2AA93369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166" y="4343400"/>
            <a:ext cx="4537261" cy="1914532"/>
          </a:xfrm>
          <a:prstGeom prst="rect">
            <a:avLst/>
          </a:prstGeom>
        </p:spPr>
      </p:pic>
      <p:sp>
        <p:nvSpPr>
          <p:cNvPr id="21" name="Rectangle 3">
            <a:extLst>
              <a:ext uri="{FF2B5EF4-FFF2-40B4-BE49-F238E27FC236}">
                <a16:creationId xmlns:a16="http://schemas.microsoft.com/office/drawing/2014/main" id="{C892A4F3-6317-CB6F-BBDA-F5E4F2B2B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10000"/>
            <a:ext cx="3289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Withdrawing money</a:t>
            </a:r>
          </a:p>
        </p:txBody>
      </p:sp>
    </p:spTree>
    <p:extLst>
      <p:ext uri="{BB962C8B-B14F-4D97-AF65-F5344CB8AC3E}">
        <p14:creationId xmlns:p14="http://schemas.microsoft.com/office/powerpoint/2010/main" val="847851706"/>
      </p:ext>
    </p:extLst>
  </p:cSld>
  <p:clrMapOvr>
    <a:masterClrMapping/>
  </p:clrMapOvr>
  <p:transition spd="med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A47C-8D25-7B93-7B2B-B65418641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Checks / Controls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E22D8-CDF7-43D7-A02B-6EE01C11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A5617E-5A18-1027-0796-F0C1A5990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93" y="1219200"/>
            <a:ext cx="3882707" cy="2026584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129FE799-C8F4-5524-A1B7-EC4442C405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3670935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Insufficient balance check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95647C-40BC-A6C3-4668-A5F711C71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676" y="1282517"/>
            <a:ext cx="4248562" cy="1994083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0E2697DF-088B-4034-2381-5A1BAE14B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325" y="804661"/>
            <a:ext cx="3670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Duplicate Accounts check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E8EBEC-9C36-7576-CA89-EDB050E8D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52" y="3917101"/>
            <a:ext cx="3838516" cy="1787544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D5BAF6CE-763F-DE2B-D22D-9DFA47618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408204"/>
            <a:ext cx="3670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Account not found check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F2A59A-0A54-DF64-4ACD-4E00BD5E5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676" y="3962400"/>
            <a:ext cx="4218082" cy="1268721"/>
          </a:xfrm>
          <a:prstGeom prst="rect">
            <a:avLst/>
          </a:prstGeom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EC920E5E-0D88-39E9-6484-EA6D68224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665" y="3505200"/>
            <a:ext cx="3670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Invalid credentials check</a:t>
            </a:r>
          </a:p>
        </p:txBody>
      </p:sp>
    </p:spTree>
    <p:extLst>
      <p:ext uri="{BB962C8B-B14F-4D97-AF65-F5344CB8AC3E}">
        <p14:creationId xmlns:p14="http://schemas.microsoft.com/office/powerpoint/2010/main" val="3478617230"/>
      </p:ext>
    </p:extLst>
  </p:cSld>
  <p:clrMapOvr>
    <a:masterClrMapping/>
  </p:clrMapOvr>
  <p:transition spd="med"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26CA-119D-5F85-F0BE-CABE3F7C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BD70-3FE5-DC5C-E8D0-A78A4FCB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28600"/>
            <a:ext cx="8683625" cy="685800"/>
          </a:xfrm>
        </p:spPr>
        <p:txBody>
          <a:bodyPr/>
          <a:lstStyle/>
          <a:p>
            <a:r>
              <a:rPr lang="en-US" dirty="0"/>
              <a:t>Audit Trail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0BDF6-5CEE-1BA4-A4C1-9168CAF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451664-ECE1-43A9-6A3E-458DADF6D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51" y="1226481"/>
            <a:ext cx="8617487" cy="486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08563"/>
      </p:ext>
    </p:extLst>
  </p:cSld>
  <p:clrMapOvr>
    <a:masterClrMapping/>
  </p:clrMapOvr>
  <p:transition spd="med"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FB74D-C928-AF77-A2EC-EEF47E5C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9269CA9-5A2F-6B2F-4BC3-E3749B7629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6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DD3BC078-EA0A-0DDF-9284-E6E2FF68CFC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Loan Eligibility &amp; EMI Calculator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2C2D997-5B78-EA69-44F7-E2B248547C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0" y="2743200"/>
            <a:ext cx="7315200" cy="3505200"/>
          </a:xfrm>
        </p:spPr>
        <p:txBody>
          <a:bodyPr/>
          <a:lstStyle/>
          <a:p>
            <a:pPr indent="-650875" algn="just"/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This program calculates the Monthly Loan EMI (Equated Monthly Installment).</a:t>
            </a:r>
          </a:p>
          <a:p>
            <a:pPr indent="-650875" algn="just"/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indent="-650875" algn="just"/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The program converts the annual interest rate to a monthly interest rate.</a:t>
            </a:r>
          </a:p>
          <a:p>
            <a:pPr indent="-650875" algn="just"/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indent="-650875" algn="just"/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It then uses the EMI formula to compute the monthly payment and then checks loan eligibility.</a:t>
            </a:r>
          </a:p>
          <a:p>
            <a:pPr marL="263525" indent="0" algn="just">
              <a:buNone/>
            </a:pPr>
            <a:r>
              <a:rPr lang="pt-BR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</a:t>
            </a:r>
          </a:p>
          <a:p>
            <a:pPr marL="263525" indent="0" algn="just">
              <a:buNone/>
            </a:pPr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indent="-650875" algn="just"/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 person is eligible for the loan only if the EMI is less than or equal to 40% of their monthly salary.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4D142AFD-3F5D-3BB4-DFCB-79539864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B055A-7EAA-48E4-7DB9-8901C4F17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915" y="4876726"/>
            <a:ext cx="2210108" cy="5334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1158114"/>
      </p:ext>
    </p:extLst>
  </p:cSld>
  <p:clrMapOvr>
    <a:masterClrMapping/>
  </p:clrMapOvr>
  <p:transition spd="med"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F6AD-3FC9-229F-28E1-A54F0B12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F624-6944-C5D7-398B-A068B2AC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Checks / Controls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C786E-1C9F-45AB-3182-CFA04A78E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7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714B14D-611E-59CF-18B3-15F4481706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3670935" cy="909321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000" b="1" dirty="0"/>
              <a:t>Not ELIGIBLE </a:t>
            </a:r>
          </a:p>
          <a:p>
            <a:pPr marL="0" indent="0">
              <a:buNone/>
            </a:pPr>
            <a:r>
              <a:rPr lang="en-US" altLang="en-UG" sz="2000" b="1" dirty="0"/>
              <a:t>The EMI is within 40% of salary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BD843FE-A1C1-02E8-9AA3-8942CF589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1065" y="838200"/>
            <a:ext cx="367093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G" sz="2000" b="1" dirty="0"/>
              <a:t>Not ELIGIBLE </a:t>
            </a:r>
          </a:p>
          <a:p>
            <a:pPr marL="0" indent="0">
              <a:buNone/>
            </a:pPr>
            <a:r>
              <a:rPr lang="en-US" altLang="en-UG" sz="2000" b="1" dirty="0"/>
              <a:t>The EMI exceeds 40% of salary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BC74E-2E1B-BABA-34ED-B6B21558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829" y="1671321"/>
            <a:ext cx="4123371" cy="2443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E6FFA9-F1D8-89E5-60BA-1C825EEC1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3" y="1678471"/>
            <a:ext cx="4143783" cy="24363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EF902E-4B1E-4551-0688-302A96E36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07975"/>
            <a:ext cx="2987074" cy="1083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D5DFD0-B42C-4562-4E74-A60C9A7B0D69}"/>
              </a:ext>
            </a:extLst>
          </p:cNvPr>
          <p:cNvSpPr txBox="1"/>
          <p:nvPr/>
        </p:nvSpPr>
        <p:spPr>
          <a:xfrm>
            <a:off x="3657600" y="4648200"/>
            <a:ext cx="3810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Where: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   </a:t>
            </a:r>
            <a:r>
              <a:rPr lang="en-US" sz="2000" dirty="0">
                <a:latin typeface="+mn-lt"/>
              </a:rPr>
              <a:t>P = Principal / Loan Amount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     R = Monthly Interest Rate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     N = Loan Tenure/duration in Months </a:t>
            </a:r>
            <a:endParaRPr lang="en-UG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6225915"/>
      </p:ext>
    </p:extLst>
  </p:cSld>
  <p:clrMapOvr>
    <a:masterClrMapping/>
  </p:clrMapOvr>
  <p:transition spd="med"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FD61-72FC-8DDA-1126-36B41C16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D80B889-E553-ACA6-9EDA-0B785172E7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8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B320C333-AC87-839D-8775-E9305881D50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Library Management System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57973C0-DC54-A960-77F5-C5C89264BE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2743200"/>
            <a:ext cx="7315200" cy="3505200"/>
          </a:xfrm>
        </p:spPr>
        <p:txBody>
          <a:bodyPr/>
          <a:lstStyle/>
          <a:p>
            <a:pPr marL="549275" indent="-549275" algn="just"/>
            <a:r>
              <a:rPr lang="en-US" altLang="en-UG" sz="1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Add Book </a:t>
            </a:r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Stores new books with ID, title, and author in a file.</a:t>
            </a:r>
          </a:p>
          <a:p>
            <a:pPr marL="549275" indent="-549275" algn="just"/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49275" indent="-549275" algn="just"/>
            <a:r>
              <a:rPr lang="en-US" altLang="en-UG" sz="1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Search Book </a:t>
            </a:r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Finds a book by ID and displays its details and availability status.</a:t>
            </a:r>
          </a:p>
          <a:p>
            <a:pPr marL="549275" indent="-549275" algn="just"/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49275" indent="-549275" algn="just"/>
            <a:r>
              <a:rPr lang="en-US" altLang="en-UG" sz="1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Issue Book </a:t>
            </a:r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Records when a student borrows a book, including borrower registration number, issue date/time, and expected return date.</a:t>
            </a:r>
          </a:p>
          <a:p>
            <a:pPr marL="549275" indent="-549275" algn="just"/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49275" indent="-549275" algn="just"/>
            <a:r>
              <a:rPr lang="en-US" altLang="en-UG" sz="1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Return Book </a:t>
            </a:r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Updates the system when a borrowed book is returned.</a:t>
            </a:r>
          </a:p>
          <a:p>
            <a:pPr marL="549275" indent="-549275" algn="just"/>
            <a:endParaRPr lang="en-US" altLang="en-UG" sz="1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49275" indent="-549275" algn="just"/>
            <a:r>
              <a:rPr lang="en-US" altLang="en-UG" sz="1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Display Books </a:t>
            </a:r>
            <a:r>
              <a:rPr lang="en-US" altLang="en-UG" sz="1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Shows all books stored in the library system.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F427D135-4233-A6AB-40C7-6F873BAA7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7E39E-B7CB-5034-D1D3-89A6C17A6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" y="3944168"/>
            <a:ext cx="1442724" cy="93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26730"/>
      </p:ext>
    </p:extLst>
  </p:cSld>
  <p:clrMapOvr>
    <a:masterClrMapping/>
  </p:clrMapOvr>
  <p:transition spd="med"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09F3-ABCF-376E-644E-FE57D8A3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D45D-AFFE-1939-273D-BE8C297F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4514C-A856-E239-0864-14396526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7D38CC-942E-D41E-BF34-0694A0DC48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265" y="838200"/>
            <a:ext cx="3289935" cy="360204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Create / Add a New Book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59C61A8-D8E0-41AC-9ADE-37DBA84D1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762000"/>
            <a:ext cx="32899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Issue out a Book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B73D9-2DBD-01DA-8686-5F9A8987D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87" y="1285565"/>
            <a:ext cx="3101913" cy="19910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4D55BF-2EE9-EAAA-2E1C-559620096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47" y="3810000"/>
            <a:ext cx="3122453" cy="2415836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3BC2B55A-E097-6D21-24B5-00A15CE5F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3352800"/>
            <a:ext cx="269891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Search for a Book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ABC4CCE-C12B-2FF9-C3D5-F99240F44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064" y="1219200"/>
            <a:ext cx="4467849" cy="21910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6AABD2-2CD0-B955-649E-78450A624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167" y="3872726"/>
            <a:ext cx="2763587" cy="2299474"/>
          </a:xfrm>
          <a:prstGeom prst="rect">
            <a:avLst/>
          </a:prstGeom>
        </p:spPr>
      </p:pic>
      <p:sp>
        <p:nvSpPr>
          <p:cNvPr id="26" name="Rectangle 3">
            <a:extLst>
              <a:ext uri="{FF2B5EF4-FFF2-40B4-BE49-F238E27FC236}">
                <a16:creationId xmlns:a16="http://schemas.microsoft.com/office/drawing/2014/main" id="{D98294B3-698A-6DDE-54FD-DDD2644F4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967" y="4636918"/>
            <a:ext cx="1981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Search for a Book</a:t>
            </a:r>
          </a:p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2000" b="1" dirty="0"/>
              <a:t>- Issued</a:t>
            </a:r>
          </a:p>
        </p:txBody>
      </p:sp>
    </p:spTree>
    <p:extLst>
      <p:ext uri="{BB962C8B-B14F-4D97-AF65-F5344CB8AC3E}">
        <p14:creationId xmlns:p14="http://schemas.microsoft.com/office/powerpoint/2010/main" val="928775774"/>
      </p:ext>
    </p:extLst>
  </p:cSld>
  <p:clrMapOvr>
    <a:masterClrMapping/>
  </p:clrMapOvr>
  <p:transition spd="med"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BE06-1E21-F28C-DEC7-1B868916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1371-5926-E4DF-1416-9DB9AE27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56279-B958-08D4-6DCC-C1826E02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10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03F73B3-E0AD-A955-087A-6831BE05D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065" y="838200"/>
            <a:ext cx="3289935" cy="360204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Display all Books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81846E0-A9DF-EF85-B76E-0C8AFA975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7620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Return a 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D78A0-09D8-3942-0411-5C48385A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44" y="1295401"/>
            <a:ext cx="4003231" cy="4952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9088EC-FA30-12F2-7D10-503060A7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180839"/>
            <a:ext cx="2715004" cy="1867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047DE3-979B-2B9D-C395-3D911C8F7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293" y="3124200"/>
            <a:ext cx="2433707" cy="3124200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9681D506-5459-28FC-5A53-16CE97DB8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267200"/>
            <a:ext cx="205740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2000" b="1" dirty="0"/>
              <a:t>Available Books</a:t>
            </a:r>
          </a:p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2000" b="1" dirty="0"/>
              <a:t>- New status</a:t>
            </a:r>
          </a:p>
        </p:txBody>
      </p:sp>
    </p:spTree>
    <p:extLst>
      <p:ext uri="{BB962C8B-B14F-4D97-AF65-F5344CB8AC3E}">
        <p14:creationId xmlns:p14="http://schemas.microsoft.com/office/powerpoint/2010/main" val="2166407202"/>
      </p:ext>
    </p:extLst>
  </p:cSld>
  <p:clrMapOvr>
    <a:masterClrMapping/>
  </p:clrMapOvr>
  <p:transition spd="med"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8D105-8B8C-E118-7586-CFEA6E56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E52B2C4-5F95-7BDF-4DF8-02475308A4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11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40C6422E-CD74-E7FA-FCEA-2C324F8DD8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Student Record Management System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DFDFAB1-0FB1-29B5-E747-833E8A934E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4800" y="2746375"/>
            <a:ext cx="8534400" cy="3730625"/>
          </a:xfrm>
        </p:spPr>
        <p:txBody>
          <a:bodyPr/>
          <a:lstStyle/>
          <a:p>
            <a:pPr marL="630238" indent="-447675" algn="just"/>
            <a:r>
              <a:rPr lang="en-US" altLang="en-UG" sz="175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Add Student </a:t>
            </a:r>
            <a:r>
              <a:rPr lang="en-US" altLang="en-UG" sz="175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Records student details such as ID, name, gender, and marks for subjects.</a:t>
            </a:r>
          </a:p>
          <a:p>
            <a:pPr marL="630238" indent="-447675" algn="just"/>
            <a:endParaRPr lang="en-US" altLang="en-UG" sz="175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5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Calculate Results </a:t>
            </a:r>
            <a:r>
              <a:rPr lang="en-US" altLang="en-UG" sz="175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Automatically calculates the average score and assigns a grade (A–F) based on performance.</a:t>
            </a:r>
          </a:p>
          <a:p>
            <a:pPr marL="630238" indent="-447675" algn="just"/>
            <a:endParaRPr lang="en-US" altLang="en-UG" sz="175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5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Display Reports </a:t>
            </a:r>
            <a:r>
              <a:rPr lang="en-US" altLang="en-UG" sz="175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Allows viewing all students sorted by average score or displaying an individual student's report using their ID.</a:t>
            </a:r>
          </a:p>
          <a:p>
            <a:pPr marL="630238" indent="-447675" algn="just"/>
            <a:endParaRPr lang="en-US" altLang="en-UG" sz="175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5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Search Student </a:t>
            </a:r>
            <a:r>
              <a:rPr lang="en-US" altLang="en-UG" sz="175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Finds a specific student using their Student ID.</a:t>
            </a:r>
          </a:p>
          <a:p>
            <a:pPr marL="630238" indent="-447675" algn="just"/>
            <a:endParaRPr lang="en-US" altLang="en-UG" sz="175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5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Save &amp; Load Data </a:t>
            </a:r>
            <a:r>
              <a:rPr lang="en-US" altLang="en-UG" sz="175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Stores records in a file so data is preserved even after the program closes.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80C014E7-223E-37B3-B031-D7B1D8190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91080516"/>
      </p:ext>
    </p:extLst>
  </p:cSld>
  <p:clrMapOvr>
    <a:masterClrMapping/>
  </p:clrMapOvr>
  <p:transition spd="med"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CE1B7-6C79-2C29-178C-0ABDBD78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AA31-8DAE-EF60-0408-B2602FA9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- </a:t>
            </a:r>
            <a:r>
              <a:rPr lang="en-US" altLang="en-UG" dirty="0"/>
              <a:t>Add Student / Record Marks 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629-1946-5A87-DE77-078161024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12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74756DA-93CD-AAF0-D7F6-CF9582165F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7665" y="1066800"/>
            <a:ext cx="2451735" cy="9144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Add student marks - 1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7E1E6-6F1D-4BFD-8A5E-9EABCD4C4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" y="2057400"/>
            <a:ext cx="2508096" cy="27150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A8F46-9483-B001-C107-5F17C2E6A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916" y="2971800"/>
            <a:ext cx="2445818" cy="2656386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21AF2880-F915-AA6A-E34F-0E26318C3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6076" y="2123440"/>
            <a:ext cx="2299335" cy="77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Add student marks - 2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BAA97E-ABF4-C01E-4411-868AECB56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889" y="3539065"/>
            <a:ext cx="2356148" cy="2543392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DD879AA2-5FE4-48E1-4031-4220C1221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514600"/>
            <a:ext cx="245173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Add student marks - 3</a:t>
            </a:r>
          </a:p>
        </p:txBody>
      </p:sp>
    </p:spTree>
    <p:extLst>
      <p:ext uri="{BB962C8B-B14F-4D97-AF65-F5344CB8AC3E}">
        <p14:creationId xmlns:p14="http://schemas.microsoft.com/office/powerpoint/2010/main" val="3381506327"/>
      </p:ext>
    </p:extLst>
  </p:cSld>
  <p:clrMapOvr>
    <a:masterClrMapping/>
  </p:clrMapOvr>
  <p:transition spd="med">
    <p:cover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6764-D927-A290-BE05-DB6FFE12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688C-E4B0-D8B7-4003-DCA97F22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714B9-F3E0-1C65-9F9C-C8E55759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13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1C5F627-390D-F6EF-1B9F-4DE03AC4E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6" y="914400"/>
            <a:ext cx="3886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Display all Student Marks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E9C070-84B1-E4EA-4203-E4B9228F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8305800" cy="463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36420"/>
      </p:ext>
    </p:extLst>
  </p:cSld>
  <p:clrMapOvr>
    <a:masterClrMapping/>
  </p:clrMapOvr>
  <p:transition spd="med">
    <p:cover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0B07-1C06-58F6-69DE-51A59039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11CA6-0C07-43DA-A08E-7E1891C8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- </a:t>
            </a:r>
            <a:r>
              <a:rPr lang="en-US" altLang="en-UG" dirty="0"/>
              <a:t>Display Marks for a Student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3445E-E85D-71B8-42C5-05CAF25E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14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C101EC-5173-C9E1-8BA4-E84B3FE33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93072"/>
            <a:ext cx="2339021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2500" b="1" dirty="0"/>
              <a:t>Display the </a:t>
            </a:r>
          </a:p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2500" b="1" dirty="0"/>
              <a:t>Student’s marks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D4705-C061-2B1E-EBF9-04D57E7B4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219200"/>
            <a:ext cx="3038899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93409"/>
      </p:ext>
    </p:extLst>
  </p:cSld>
  <p:clrMapOvr>
    <a:masterClrMapping/>
  </p:clrMapOvr>
  <p:transition spd="med">
    <p:cover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A899-4073-7E64-8246-85429872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4F6ADCD9-B68F-5476-0CAD-695596D658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15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C6772F1A-0281-5C69-12B6-CCEDF8A49F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Hospital Patient Management System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2283E5-3FD5-FF1E-BD00-2E8946F472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04800" y="2746375"/>
            <a:ext cx="8534400" cy="3730625"/>
          </a:xfrm>
        </p:spPr>
        <p:txBody>
          <a:bodyPr/>
          <a:lstStyle/>
          <a:p>
            <a:pPr marL="630238" indent="-447675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Doctor Management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Add and store doctor details including ID, name, and specialization.</a:t>
            </a:r>
          </a:p>
          <a:p>
            <a:pPr marL="630238" indent="-447675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Patient Management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Register patients with ID, name, and age.</a:t>
            </a:r>
          </a:p>
          <a:p>
            <a:pPr marL="630238" indent="-447675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Appointment Scheduling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Create and manage appointments between doctors and patients.</a:t>
            </a:r>
          </a:p>
          <a:p>
            <a:pPr marL="630238" indent="-447675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Diagnosis Recording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Doctors can record diagnoses for completed appointments.</a:t>
            </a:r>
          </a:p>
          <a:p>
            <a:pPr marL="630238" indent="-447675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Billing System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Add and update bill items such as treatment or medical services.</a:t>
            </a:r>
          </a:p>
          <a:p>
            <a:pPr marL="630238" indent="-447675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630238" indent="-447675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Patient History Tracking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View a patient's complete medical history including diagnoses and total bills.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FF890EEF-4BD3-EED6-0085-35E4E03C0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61099221"/>
      </p:ext>
    </p:extLst>
  </p:cSld>
  <p:clrMapOvr>
    <a:masterClrMapping/>
  </p:clrMapOvr>
  <p:transition spd="med">
    <p:cover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3044-D679-1D14-02EA-A3A97227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DAA6-F4D8-3AB5-8005-5F5FE2E3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Create Doctor, Create Patient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C822B-D0C7-9884-B5C1-A4DD4CF7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16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5639A88-530E-23E9-031F-E43064A01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6" y="914400"/>
            <a:ext cx="305795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Create Doctor (1)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052CD-E58D-AAAF-22D1-5AADAFEC6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6" y="1447800"/>
            <a:ext cx="2544992" cy="274320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2209581-6514-6D89-2AD4-44149002A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7901" y="919480"/>
            <a:ext cx="254499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Create Doctor (2)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046D4B-5645-1135-ABD1-C1F651229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01" y="1473200"/>
            <a:ext cx="2521847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2E9F44-B82A-B790-ECCE-23476BC24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447800"/>
            <a:ext cx="2545838" cy="276860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5D1F7850-CFFA-7E47-BF43-9059F45F3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053" y="914400"/>
            <a:ext cx="254499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Create Patient (1)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F0A09B-0CF2-B0E7-9B16-86CADA309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083" y="4419600"/>
            <a:ext cx="1652155" cy="1828800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865F8D53-CDE4-07CB-DCE5-4C376F8AE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9748" y="4897120"/>
            <a:ext cx="129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1800" b="1" dirty="0"/>
              <a:t>Create </a:t>
            </a:r>
          </a:p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1800" b="1" dirty="0"/>
              <a:t>Patient (2)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28E6002-E869-5D6F-0B2A-0934B6583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62" y="4455704"/>
            <a:ext cx="3168849" cy="175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05392"/>
      </p:ext>
    </p:extLst>
  </p:cSld>
  <p:clrMapOvr>
    <a:masterClrMapping/>
  </p:clrMapOvr>
  <p:transition spd="med">
    <p:cover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DD31-716C-0495-A64F-8BF72557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FF3B-E984-7955-82DF-95316AB5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Create Appointment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45049-F326-0C11-8F26-2BFEA33F1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7814D-9F94-5E5F-49CC-3DCA0B01B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1371600"/>
            <a:ext cx="4618355" cy="3567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AE062-D25F-F802-BB0B-26DAB840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5" y="5621189"/>
            <a:ext cx="8305800" cy="627211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B99AB19E-0E37-8DA9-2927-18A7F364E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6" y="838200"/>
            <a:ext cx="305795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Create Appointment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684BCC8-4E5E-562C-322A-A412BA016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05400"/>
            <a:ext cx="3657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>
                <a:latin typeface="+mj-lt"/>
              </a:rPr>
              <a:t>View all Appointments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C983E5-E9E6-7CB0-BD0A-FF9B933E37A4}"/>
              </a:ext>
            </a:extLst>
          </p:cNvPr>
          <p:cNvSpPr txBox="1"/>
          <p:nvPr/>
        </p:nvSpPr>
        <p:spPr>
          <a:xfrm>
            <a:off x="5257800" y="1371600"/>
            <a:ext cx="35883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800" dirty="0">
                <a:latin typeface="+mj-lt"/>
              </a:rPr>
              <a:t>Doctor Selection (valid Doctor ID)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800" dirty="0">
                <a:latin typeface="+mj-lt"/>
              </a:rPr>
              <a:t>Patient Identification (A Patient ID is entered and verified)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800" dirty="0">
                <a:latin typeface="+mj-lt"/>
              </a:rPr>
              <a:t>Appointment Details Entry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800" dirty="0">
                <a:latin typeface="+mj-lt"/>
              </a:rPr>
              <a:t>Patient complaint/symptoms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G" sz="1800" dirty="0">
                <a:latin typeface="+mj-lt"/>
              </a:rPr>
              <a:t>Appointment date &amp; time</a:t>
            </a:r>
            <a:endParaRPr lang="en-US" sz="18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G" sz="1800" dirty="0">
              <a:latin typeface="+mj-lt"/>
            </a:endParaRPr>
          </a:p>
          <a:p>
            <a:pPr algn="just"/>
            <a:r>
              <a:rPr lang="en-UG" sz="1800" b="1" dirty="0">
                <a:latin typeface="+mj-lt"/>
              </a:rPr>
              <a:t>Appointment Creation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The system automatically generates a unique Appointment ID and saves the appointment with status = Pending.</a:t>
            </a:r>
            <a:endParaRPr lang="en-UG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8678423"/>
      </p:ext>
    </p:extLst>
  </p:cSld>
  <p:clrMapOvr>
    <a:masterClrMapping/>
  </p:clrMapOvr>
  <p:transition spd="med">
    <p:cover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4976-E5DE-000D-F5A8-0656988A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1421-088F-A2AE-0C9B-1BD50DCF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Diagnosis &amp; Billing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2C0FE-5F35-AB13-B33C-C656392F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14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44E3EE9-7B90-8329-7AB4-7B8FE9727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6" y="838200"/>
            <a:ext cx="358838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>
                <a:latin typeface="+mj-lt"/>
              </a:rPr>
              <a:t>Diagnosis &amp; Billing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6514CF-5500-E1EC-FDF2-D7F93047024D}"/>
              </a:ext>
            </a:extLst>
          </p:cNvPr>
          <p:cNvSpPr txBox="1"/>
          <p:nvPr/>
        </p:nvSpPr>
        <p:spPr>
          <a:xfrm>
            <a:off x="5257800" y="1371600"/>
            <a:ext cx="35883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b="1" dirty="0">
                <a:latin typeface="+mj-lt"/>
              </a:rPr>
              <a:t>Select Appointment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The user enters the Appointment ID to access the patient's consultation record.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+mj-lt"/>
            </a:endParaRPr>
          </a:p>
          <a:p>
            <a:pPr algn="just"/>
            <a:r>
              <a:rPr lang="en-US" sz="1700" b="1" dirty="0">
                <a:latin typeface="+mj-lt"/>
              </a:rPr>
              <a:t>Record Diagnosis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The doctor enters the medical diagnosis based on the patient's complaint and examination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+mj-lt"/>
            </a:endParaRPr>
          </a:p>
          <a:p>
            <a:pPr algn="just"/>
            <a:r>
              <a:rPr lang="en-US" sz="1700" b="1" dirty="0">
                <a:latin typeface="+mj-lt"/>
              </a:rPr>
              <a:t>Add Medical Bill Items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The system records all services provided during treatment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latin typeface="+mj-lt"/>
              </a:rPr>
              <a:t>Enter Cost for Each Item. Each bill item has an associated amount, which is stored in the billing file.</a:t>
            </a:r>
            <a:endParaRPr lang="en-UG" sz="17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93239-333F-ECF7-DF17-F823A9917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799"/>
            <a:ext cx="4708698" cy="46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3006"/>
      </p:ext>
    </p:extLst>
  </p:cSld>
  <p:clrMapOvr>
    <a:masterClrMapping/>
  </p:clrMapOvr>
  <p:transition spd="med">
    <p:cover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941B-AF12-4885-23BF-2C37D4E3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68E18-3DE7-AFF8-0E72-84512FA0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View Patient History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71318-558A-B2E6-932A-93D75D3E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14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8030987-EE21-90ED-9138-083265E63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1471612"/>
            <a:ext cx="305795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>
                <a:latin typeface="+mj-lt"/>
              </a:rPr>
              <a:t>Patient History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B6825-0ECA-3FDC-5A57-31CBDA492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2055812"/>
            <a:ext cx="8534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43203"/>
      </p:ext>
    </p:extLst>
  </p:cSld>
  <p:clrMapOvr>
    <a:masterClrMapping/>
  </p:clrMapOvr>
  <p:transition spd="med">
    <p:cover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7F91-F351-BBAF-7D70-E6873899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CC27-277E-43D4-41C9-03DA5CE4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Update Bill items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AC01-9850-8C06-EA50-158C6A7C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14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F1C66EA-F38C-295D-41E5-0F0A57097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3612" y="2400905"/>
            <a:ext cx="305795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anose="05000000000000000000" pitchFamily="2" charset="2"/>
              <a:buNone/>
            </a:pPr>
            <a:r>
              <a:rPr lang="en-US" altLang="en-UG" sz="2500" b="1" dirty="0">
                <a:latin typeface="+mj-lt"/>
              </a:rPr>
              <a:t>Update Bill items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A284C-A65B-C1FE-2577-A5A0852D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871692"/>
            <a:ext cx="2971800" cy="3972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806B4A-76FB-1109-0AEF-0C3FAF0BE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3" y="4954211"/>
            <a:ext cx="8683625" cy="1418014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A767876F-EA05-758B-0714-42282B59A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72000"/>
            <a:ext cx="4040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>
                <a:latin typeface="+mj-lt"/>
              </a:rPr>
              <a:t>Patient History – Bill item updated</a:t>
            </a:r>
          </a:p>
        </p:txBody>
      </p:sp>
    </p:spTree>
    <p:extLst>
      <p:ext uri="{BB962C8B-B14F-4D97-AF65-F5344CB8AC3E}">
        <p14:creationId xmlns:p14="http://schemas.microsoft.com/office/powerpoint/2010/main" val="439145554"/>
      </p:ext>
    </p:extLst>
  </p:cSld>
  <p:clrMapOvr>
    <a:masterClrMapping/>
  </p:clrMapOvr>
  <p:transition spd="med">
    <p:cover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EC39-B2B3-3DB8-25D3-DC2352DD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C305482C-65E9-A882-21B9-DFD71678B7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15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2DC9C06D-3109-55AD-68C4-E1707750143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Pharmacy Inventory System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2B13E0C-0212-89D9-A5A3-E2074B7754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" y="2667000"/>
            <a:ext cx="4876800" cy="3730625"/>
          </a:xfrm>
        </p:spPr>
        <p:txBody>
          <a:bodyPr/>
          <a:lstStyle/>
          <a:p>
            <a:pPr marL="468313" indent="-285750" algn="just"/>
            <a:r>
              <a:rPr lang="en-US" altLang="en-UG" sz="16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Medicine Management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Add new medicines with ID, name, quantity, price, and expiry date; Store records in a file</a:t>
            </a:r>
          </a:p>
          <a:p>
            <a:pPr marL="182563" indent="0" algn="just">
              <a:buNone/>
            </a:pPr>
            <a:endParaRPr lang="en-US" altLang="en-UG" sz="16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285750" algn="just"/>
            <a:r>
              <a:rPr lang="en-US" altLang="en-UG" sz="16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Stock Control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Refill medicine stock when inventory is low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Automatically highlights low stock items (≤5 units)</a:t>
            </a:r>
          </a:p>
          <a:p>
            <a:pPr marL="182563" indent="0" algn="just">
              <a:buNone/>
            </a:pPr>
            <a:endParaRPr lang="en-US" altLang="en-UG" sz="16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285750" algn="just"/>
            <a:r>
              <a:rPr lang="en-US" altLang="en-UG" sz="16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Sales &amp; POS System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Allows selling multiple medicines in one transaction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Calculates subtotal and grand total &amp; Updates inventory after purchase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Generates printed receipt with date and purchased items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094D8574-72DB-1C28-8B8E-5F4D69439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F0D4784-41EC-6244-81BF-C6A2E9424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449" y="3562350"/>
            <a:ext cx="35814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14400" indent="-9144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SzPct val="125000"/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313" indent="-285750" algn="just"/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Expiry Monitoring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Checks medicines against today's date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Displays expired medicines to prevent unsafe sales</a:t>
            </a:r>
          </a:p>
          <a:p>
            <a:pPr marL="182563" indent="0" algn="just">
              <a:buFont typeface="Wingdings" panose="05000000000000000000" pitchFamily="2" charset="2"/>
              <a:buNone/>
            </a:pPr>
            <a:endParaRPr lang="en-US" altLang="en-UG" sz="16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285750" algn="just"/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Sales Tracking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Stores every transaction</a:t>
            </a:r>
          </a:p>
          <a:p>
            <a:pPr marL="468313" indent="-285750" algn="just">
              <a:buFont typeface="Wingdings" panose="05000000000000000000" pitchFamily="2" charset="2"/>
              <a:buChar char="ü"/>
            </a:pPr>
            <a:r>
              <a:rPr lang="en-US" altLang="en-UG" sz="16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Calculates total pharmacy revenue</a:t>
            </a:r>
          </a:p>
        </p:txBody>
      </p:sp>
    </p:spTree>
    <p:extLst>
      <p:ext uri="{BB962C8B-B14F-4D97-AF65-F5344CB8AC3E}">
        <p14:creationId xmlns:p14="http://schemas.microsoft.com/office/powerpoint/2010/main" val="2988139587"/>
      </p:ext>
    </p:extLst>
  </p:cSld>
  <p:clrMapOvr>
    <a:masterClrMapping/>
  </p:clrMapOvr>
  <p:transition spd="med">
    <p:cover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90D7-D857-F0BD-B3E2-BE4039A4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EE8E-E806-72C8-6FCB-9DA2B303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- </a:t>
            </a:r>
            <a:r>
              <a:rPr lang="en-US" altLang="en-UG" dirty="0"/>
              <a:t>Add Medicine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2DEC7-A438-476D-F5A2-22EE6DC0B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FC550B8-3E3E-1F19-F4BB-5C55C0EA9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838200"/>
            <a:ext cx="3289935" cy="360204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Add Medicine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C583C-1E01-6307-7422-624FEC477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74604"/>
            <a:ext cx="5257800" cy="485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89033"/>
      </p:ext>
    </p:extLst>
  </p:cSld>
  <p:clrMapOvr>
    <a:masterClrMapping/>
  </p:clrMapOvr>
  <p:transition spd="med">
    <p:cover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CC47-9CD1-52D2-3DC8-2F195BBC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C760-B365-4D8C-C925-177C17957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- </a:t>
            </a:r>
            <a:r>
              <a:rPr lang="en-US" altLang="en-UG" dirty="0"/>
              <a:t>Display Inventory, Check Expiry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00094-2F73-0979-9321-9E4256EA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442027-F597-D841-560D-13C4AA0B5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1465" y="838200"/>
            <a:ext cx="3289935" cy="360204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Display Inventory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258CB-E2B6-AD4F-4286-EE01522C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71600"/>
            <a:ext cx="4333103" cy="2905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477C08-BD40-5190-6FC6-F31AD3991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371600"/>
            <a:ext cx="3820058" cy="290553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C8B0D76C-989E-59BF-63D2-2381CE168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3465" y="914400"/>
            <a:ext cx="3289935" cy="36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Check Expiry</a:t>
            </a:r>
          </a:p>
        </p:txBody>
      </p:sp>
    </p:spTree>
    <p:extLst>
      <p:ext uri="{BB962C8B-B14F-4D97-AF65-F5344CB8AC3E}">
        <p14:creationId xmlns:p14="http://schemas.microsoft.com/office/powerpoint/2010/main" val="4039740355"/>
      </p:ext>
    </p:extLst>
  </p:cSld>
  <p:clrMapOvr>
    <a:masterClrMapping/>
  </p:clrMapOvr>
  <p:transition spd="med">
    <p:cover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E033-61F3-0363-9E01-4C75AD9EF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BB2C6-647F-2161-1473-212EA47F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- </a:t>
            </a:r>
            <a:r>
              <a:rPr lang="en-US" altLang="en-UG" dirty="0"/>
              <a:t>Sell Medicine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E7D7-185F-27A9-4288-A827F326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54BAC8-603A-056D-73C4-4EC8970951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1363" y="1600200"/>
            <a:ext cx="2326315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Sell Medicine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7D389-7AB3-E41C-4E41-873F99320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78205"/>
            <a:ext cx="3452018" cy="5443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58D9FD-9579-8FF1-529D-D10FC95C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363" y="2362200"/>
            <a:ext cx="2844180" cy="165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73149"/>
      </p:ext>
    </p:extLst>
  </p:cSld>
  <p:clrMapOvr>
    <a:masterClrMapping/>
  </p:clrMapOvr>
  <p:transition spd="med">
    <p:cover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40366-096B-F18D-0AF7-859EEBCD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8126-3E96-B766-B329-CC98B2F6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</a:t>
            </a:r>
            <a:r>
              <a:rPr lang="en-US" altLang="en-UG" dirty="0"/>
              <a:t>Stock Refill, Show Total Sales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EAA62-FCC0-D4B8-02DC-091CC4B7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60217D-BB18-D42C-C962-C230A8175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4465" y="914400"/>
            <a:ext cx="3289935" cy="360204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500" b="1" dirty="0"/>
              <a:t>Stock Refill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CB2881D-C7C6-3693-2987-22D2BA4C7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914400"/>
            <a:ext cx="3289935" cy="36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Check Inventory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52ADE-AF0B-4D05-9BDA-618BAD646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77" y="1427004"/>
            <a:ext cx="3329723" cy="32973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F43EE6-399D-ADA7-916C-E93EE9EE9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371600"/>
            <a:ext cx="5029902" cy="1771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34B43B-F2D5-0809-524F-0C6D31A0D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465" y="4240777"/>
            <a:ext cx="5018158" cy="1169423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257F7A98-00AE-9E7B-B7C8-7F31DB5AD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810000"/>
            <a:ext cx="3289935" cy="36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500" b="1" dirty="0"/>
              <a:t>Show Total Sales</a:t>
            </a:r>
          </a:p>
        </p:txBody>
      </p:sp>
    </p:spTree>
    <p:extLst>
      <p:ext uri="{BB962C8B-B14F-4D97-AF65-F5344CB8AC3E}">
        <p14:creationId xmlns:p14="http://schemas.microsoft.com/office/powerpoint/2010/main" val="3377269703"/>
      </p:ext>
    </p:extLst>
  </p:cSld>
  <p:clrMapOvr>
    <a:masterClrMapping/>
  </p:clrMapOvr>
  <p:transition spd="med">
    <p:cover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3467-3C77-0277-80E3-D51E990E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949AA812-C8E1-921D-6938-13131B4020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15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3D2C1B9E-4311-2BE8-D771-330197C3D2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Bus Reservation System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EEF1337-89BD-67E5-46E5-B3CE6666FC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2800351"/>
            <a:ext cx="8001000" cy="3597274"/>
          </a:xfrm>
        </p:spPr>
        <p:txBody>
          <a:bodyPr/>
          <a:lstStyle/>
          <a:p>
            <a:pPr marL="468313" indent="-468313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View Seat Layout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Displays a 10 × 4 bus seating arrangement showing available and booked seats.</a:t>
            </a:r>
          </a:p>
          <a:p>
            <a:pPr marL="468313" indent="-468313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468313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Book Seat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Passenger selects row and seat number and enters their name. The booking is saved to a file.</a:t>
            </a:r>
          </a:p>
          <a:p>
            <a:pPr marL="468313" indent="-468313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468313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Cancel Booking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Allows cancellation of a booked seat and updates the booking file.</a:t>
            </a:r>
          </a:p>
          <a:p>
            <a:pPr marL="468313" indent="-468313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468313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Display Passenger List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Shows all passengers with their seat numbers.</a:t>
            </a:r>
          </a:p>
          <a:p>
            <a:pPr marL="468313" indent="-468313" algn="just"/>
            <a:endParaRPr lang="en-US" altLang="en-UG" sz="17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68313" indent="-468313" algn="just"/>
            <a:r>
              <a:rPr lang="en-US" altLang="en-UG" sz="17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Persistent Storage </a:t>
            </a:r>
            <a:r>
              <a:rPr lang="en-US" altLang="en-UG" sz="17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Uses a binary file to store bookings permanently.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2D1EAAC1-44A1-7B26-936C-ECA436493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19890320"/>
      </p:ext>
    </p:extLst>
  </p:cSld>
  <p:clrMapOvr>
    <a:masterClrMapping/>
  </p:clrMapOvr>
  <p:transition spd="med">
    <p:cover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70CBA-C813-AE30-1C99-608CDDD0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F901-074E-03DB-676D-D651D9A1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 Book a Seat, </a:t>
            </a:r>
            <a:r>
              <a:rPr lang="en-US" altLang="en-UG" dirty="0"/>
              <a:t>Seat Layout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BF4F4-E9E6-73AF-0865-67BDC59C6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3FED5F-F5A1-98A8-B88F-CE4B2B67F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2326315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000" b="1" dirty="0"/>
              <a:t>View Seat Layout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CE8BD-DAE8-EDD3-BEED-E798BF127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0704"/>
            <a:ext cx="2514951" cy="405821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BA1329A6-E114-8C3D-E74E-FF19BC16B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143000"/>
            <a:ext cx="23263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Book a Seat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9BE5B7B-0462-1B7C-BAF8-92C9A87E7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066800"/>
            <a:ext cx="24787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New - Seat Layout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F38F20-1613-99C6-97EE-6F2DC038A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515144"/>
            <a:ext cx="2929594" cy="44284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118747-2481-F093-E0EE-87661C5C3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024" y="1498599"/>
            <a:ext cx="2278176" cy="391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81253"/>
      </p:ext>
    </p:extLst>
  </p:cSld>
  <p:clrMapOvr>
    <a:masterClrMapping/>
  </p:clrMapOvr>
  <p:transition spd="med">
    <p:cover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0E5D-A4F0-DC1D-7705-05BA0F91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644F-2A05-0B43-B85B-76F7B9167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–Passenger List, Cancel Booking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FEA92-9470-895F-048A-A820F33E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379D029-8954-3FEF-2CC1-7777120F1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2326315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000" b="1" dirty="0"/>
              <a:t>Passenger List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DD86B3A-1370-5828-FC78-7B19C9C5F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143000"/>
            <a:ext cx="24787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Cancel Booking (10, 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D9DFB-AB22-E092-9302-5BAE3EEA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19043"/>
            <a:ext cx="3147569" cy="2379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A1ED6D-4B6B-8359-DB5B-67498554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628523"/>
            <a:ext cx="2316683" cy="3019677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08B534D5-7C20-249B-74C6-23E19F083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143000"/>
            <a:ext cx="24787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New - Seat Layout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450E85-A76F-DBA8-17E4-D6E8E67B0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31" y="1628523"/>
            <a:ext cx="2260107" cy="27047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432CDC-A476-7A73-638F-0B91A893A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069" y="4781335"/>
            <a:ext cx="3896269" cy="1543265"/>
          </a:xfrm>
          <a:prstGeom prst="rect">
            <a:avLst/>
          </a:prstGeom>
        </p:spPr>
      </p:pic>
      <p:sp>
        <p:nvSpPr>
          <p:cNvPr id="19" name="Rectangle 3">
            <a:extLst>
              <a:ext uri="{FF2B5EF4-FFF2-40B4-BE49-F238E27FC236}">
                <a16:creationId xmlns:a16="http://schemas.microsoft.com/office/drawing/2014/main" id="{55D48981-2400-7F81-81C7-9C82F96B8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917" y="5334000"/>
            <a:ext cx="231668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New - Passenger List</a:t>
            </a:r>
          </a:p>
        </p:txBody>
      </p:sp>
    </p:spTree>
    <p:extLst>
      <p:ext uri="{BB962C8B-B14F-4D97-AF65-F5344CB8AC3E}">
        <p14:creationId xmlns:p14="http://schemas.microsoft.com/office/powerpoint/2010/main" val="3449684708"/>
      </p:ext>
    </p:extLst>
  </p:cSld>
  <p:clrMapOvr>
    <a:masterClrMapping/>
  </p:clrMapOvr>
  <p:transition spd="med">
    <p:cover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1A07-EFBB-AB7B-EF92-C5F62053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0CD4B08B-A1D6-1C91-789C-FBD7632A18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en-UG" dirty="0"/>
              <a:t>  Slide 15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D205D7FC-162C-AC2F-3811-087F8D6441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1363" y="609600"/>
            <a:ext cx="6399213" cy="1752600"/>
          </a:xfrm>
        </p:spPr>
        <p:txBody>
          <a:bodyPr/>
          <a:lstStyle/>
          <a:p>
            <a:r>
              <a:rPr lang="en-US" altLang="en-UG" dirty="0"/>
              <a:t>Vehicle Fleet Management System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6197BC4-10F8-AED5-5CC9-EEDC5840DD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7200" y="2800350"/>
            <a:ext cx="8382000" cy="3752849"/>
          </a:xfrm>
        </p:spPr>
        <p:txBody>
          <a:bodyPr/>
          <a:lstStyle/>
          <a:p>
            <a:pPr marL="538163" indent="-538163" algn="just"/>
            <a:r>
              <a:rPr lang="en-US" altLang="en-UG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Add Vehicle </a:t>
            </a:r>
            <a:r>
              <a:rPr lang="en-US" altLang="en-UG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Records vehicle ID, type, mileage, and fuel usage.</a:t>
            </a:r>
          </a:p>
          <a:p>
            <a:pPr marL="538163" indent="-538163" algn="just"/>
            <a:endParaRPr lang="en-US" altLang="en-UG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38163" indent="-538163" algn="just"/>
            <a:r>
              <a:rPr lang="en-US" altLang="en-UG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Record Maintenance </a:t>
            </a:r>
            <a:r>
              <a:rPr lang="en-US" altLang="en-UG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Updates vehicle mileage after maintenance.</a:t>
            </a:r>
          </a:p>
          <a:p>
            <a:pPr marL="538163" indent="-538163" algn="just"/>
            <a:endParaRPr lang="en-US" altLang="en-UG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38163" indent="-538163" algn="just"/>
            <a:r>
              <a:rPr lang="en-US" altLang="en-UG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Track Fuel Usage </a:t>
            </a:r>
            <a:r>
              <a:rPr lang="en-US" altLang="en-UG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Records fuel consumption for each vehicle.</a:t>
            </a:r>
          </a:p>
          <a:p>
            <a:pPr marL="538163" indent="-538163" algn="just"/>
            <a:endParaRPr lang="en-US" altLang="en-UG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38163" indent="-538163" algn="just"/>
            <a:r>
              <a:rPr lang="en-US" altLang="en-UG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Maintenance Alert </a:t>
            </a:r>
            <a:r>
              <a:rPr lang="en-US" altLang="en-UG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Identifies vehicles that exceed a mileage threshold and need servicing.</a:t>
            </a:r>
          </a:p>
          <a:p>
            <a:pPr marL="538163" indent="-538163" algn="just"/>
            <a:endParaRPr lang="en-US" altLang="en-UG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538163" indent="-538163" algn="just"/>
            <a:r>
              <a:rPr lang="en-US" altLang="en-UG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Display Fleet </a:t>
            </a:r>
            <a:r>
              <a:rPr lang="en-US" altLang="en-UG" sz="2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– Shows all vehicles with their mileage and fuel usage.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28038634-C0FC-8826-BCC1-C57EAAFFF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381226"/>
            <a:ext cx="1396536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 anchorCtr="1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G" sz="18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2719669"/>
      </p:ext>
    </p:extLst>
  </p:cSld>
  <p:clrMapOvr>
    <a:masterClrMapping/>
  </p:clrMapOvr>
  <p:transition spd="med">
    <p:cover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D3F7-F1EE-547E-4186-CF135FEB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2F44-14DA-60C2-8254-A21F5AC7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DAF74-37EA-6F7F-CBD6-A31E9902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328699-80C3-B8CA-3413-EFA1D7FC6A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2326315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000" b="1" dirty="0"/>
              <a:t>Add Vehicle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20689AC-1474-1DE5-0BA2-6FF489A58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683" y="1173480"/>
            <a:ext cx="24787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Record Maintenance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A02090-8F44-EFA0-A386-0BFE90994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92" y="1600200"/>
            <a:ext cx="3162741" cy="2553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3872A7-9D03-1A28-B5C2-310D5DFBF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26" y="4959266"/>
            <a:ext cx="6906589" cy="1200318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75C49DC8-9086-8454-D251-27044D596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992" y="4552866"/>
            <a:ext cx="24787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Display All Vehicles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90ED02-3EBB-B481-0D5D-77DCEA2F2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158" y="1615440"/>
            <a:ext cx="4696480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87969"/>
      </p:ext>
    </p:extLst>
  </p:cSld>
  <p:clrMapOvr>
    <a:masterClrMapping/>
  </p:clrMapOvr>
  <p:transition spd="med">
    <p:cover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E5FF-7815-7498-C9FB-CD6CEF43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AC67-75E0-9C15-2E0D-3489A749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76200"/>
            <a:ext cx="8683625" cy="685800"/>
          </a:xfrm>
        </p:spPr>
        <p:txBody>
          <a:bodyPr/>
          <a:lstStyle/>
          <a:p>
            <a:r>
              <a:rPr lang="en-US" dirty="0"/>
              <a:t>Actions </a:t>
            </a:r>
            <a:endParaRPr lang="en-U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6D626-5C2F-75AC-1C0D-A17DB820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97625"/>
            <a:ext cx="2011363" cy="457200"/>
          </a:xfrm>
        </p:spPr>
        <p:txBody>
          <a:bodyPr/>
          <a:lstStyle/>
          <a:p>
            <a:r>
              <a:rPr lang="en-US" altLang="en-UG" dirty="0"/>
              <a:t>  Slide 9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961F1FC-6A13-32BE-2807-1AA3C7A6FC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3124200" cy="457200"/>
          </a:xfrm>
        </p:spPr>
        <p:txBody>
          <a:bodyPr/>
          <a:lstStyle/>
          <a:p>
            <a:pPr marL="0" indent="0">
              <a:buNone/>
            </a:pPr>
            <a:r>
              <a:rPr lang="en-US" altLang="en-UG" sz="2000" b="1" dirty="0"/>
              <a:t>Generate Maintenance Alert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29F0D2-AD83-4D29-60D8-EEF18BC9E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5" y="1600201"/>
            <a:ext cx="4556502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515B9F-66DA-7BDB-9567-A784B18A7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600200"/>
            <a:ext cx="3362794" cy="2229161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098CD85C-CF66-0177-D31F-483E1356F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14300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080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l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en-UG" sz="2000" b="1" dirty="0"/>
              <a:t>Record Fuel Usage</a:t>
            </a:r>
          </a:p>
        </p:txBody>
      </p:sp>
    </p:spTree>
    <p:extLst>
      <p:ext uri="{BB962C8B-B14F-4D97-AF65-F5344CB8AC3E}">
        <p14:creationId xmlns:p14="http://schemas.microsoft.com/office/powerpoint/2010/main" val="7102917"/>
      </p:ext>
    </p:extLst>
  </p:cSld>
  <p:clrMapOvr>
    <a:masterClrMapping/>
  </p:clrMapOvr>
  <p:transition spd="med">
    <p:cover dir="u"/>
  </p:transition>
</p:sld>
</file>

<file path=ppt/theme/theme1.xml><?xml version="1.0" encoding="utf-8"?>
<a:theme xmlns:a="http://schemas.openxmlformats.org/drawingml/2006/main" name="2002-04-20">
  <a:themeElements>
    <a:clrScheme name="2002-04-20 8">
      <a:dk1>
        <a:srgbClr val="000000"/>
      </a:dk1>
      <a:lt1>
        <a:srgbClr val="E0EDF0"/>
      </a:lt1>
      <a:dk2>
        <a:srgbClr val="003366"/>
      </a:dk2>
      <a:lt2>
        <a:srgbClr val="808080"/>
      </a:lt2>
      <a:accent1>
        <a:srgbClr val="FFCC00"/>
      </a:accent1>
      <a:accent2>
        <a:srgbClr val="FF0000"/>
      </a:accent2>
      <a:accent3>
        <a:srgbClr val="EDF4F6"/>
      </a:accent3>
      <a:accent4>
        <a:srgbClr val="000000"/>
      </a:accent4>
      <a:accent5>
        <a:srgbClr val="FFE2AA"/>
      </a:accent5>
      <a:accent6>
        <a:srgbClr val="E70000"/>
      </a:accent6>
      <a:hlink>
        <a:srgbClr val="0066CC"/>
      </a:hlink>
      <a:folHlink>
        <a:srgbClr val="008000"/>
      </a:folHlink>
    </a:clrScheme>
    <a:fontScheme name="2002-04-20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2002-04-20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2-04-20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2-04-20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2-04-20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2-04-2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2-04-2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2-04-2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2-04-20 8">
        <a:dk1>
          <a:srgbClr val="000000"/>
        </a:dk1>
        <a:lt1>
          <a:srgbClr val="E0EDF0"/>
        </a:lt1>
        <a:dk2>
          <a:srgbClr val="003366"/>
        </a:dk2>
        <a:lt2>
          <a:srgbClr val="808080"/>
        </a:lt2>
        <a:accent1>
          <a:srgbClr val="FFCC00"/>
        </a:accent1>
        <a:accent2>
          <a:srgbClr val="FF0000"/>
        </a:accent2>
        <a:accent3>
          <a:srgbClr val="EDF4F6"/>
        </a:accent3>
        <a:accent4>
          <a:srgbClr val="000000"/>
        </a:accent4>
        <a:accent5>
          <a:srgbClr val="FFE2AA"/>
        </a:accent5>
        <a:accent6>
          <a:srgbClr val="E70000"/>
        </a:accent6>
        <a:hlink>
          <a:srgbClr val="0066CC"/>
        </a:hlink>
        <a:folHlink>
          <a:srgbClr val="008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Data\Microsoft\Templates\2002-04-20.pot</Template>
  <TotalTime>905</TotalTime>
  <Words>1257</Words>
  <Application>Microsoft Office PowerPoint</Application>
  <PresentationFormat>On-screen Show (4:3)</PresentationFormat>
  <Paragraphs>280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Wingdings</vt:lpstr>
      <vt:lpstr>Arial Narrow</vt:lpstr>
      <vt:lpstr>Times New Roman</vt:lpstr>
      <vt:lpstr>Arial</vt:lpstr>
      <vt:lpstr>2002-04-20</vt:lpstr>
      <vt:lpstr>ADVANCED SYSTEMS PROGRAMING</vt:lpstr>
      <vt:lpstr>Bank Account Management System </vt:lpstr>
      <vt:lpstr>User Authentication, Authorization &amp; Logging</vt:lpstr>
      <vt:lpstr>Actions</vt:lpstr>
      <vt:lpstr>Checks / Controls</vt:lpstr>
      <vt:lpstr>Audit Trail</vt:lpstr>
      <vt:lpstr>Loan Eligibility &amp; EMI Calculator</vt:lpstr>
      <vt:lpstr>Checks / Controls</vt:lpstr>
      <vt:lpstr>Library Management System</vt:lpstr>
      <vt:lpstr>Actions</vt:lpstr>
      <vt:lpstr>Actions</vt:lpstr>
      <vt:lpstr>Student Record Management System</vt:lpstr>
      <vt:lpstr>Actions - Add Student / Record Marks </vt:lpstr>
      <vt:lpstr>Actions</vt:lpstr>
      <vt:lpstr>Actions - Display Marks for a Student</vt:lpstr>
      <vt:lpstr>Hospital Patient Management System</vt:lpstr>
      <vt:lpstr>Actions – Create Doctor, Create Patient</vt:lpstr>
      <vt:lpstr>Actions – Create Appointment</vt:lpstr>
      <vt:lpstr>Actions – Diagnosis &amp; Billing</vt:lpstr>
      <vt:lpstr>Actions – View Patient History</vt:lpstr>
      <vt:lpstr>Actions – Update Bill items</vt:lpstr>
      <vt:lpstr>Pharmacy Inventory System</vt:lpstr>
      <vt:lpstr>Actions - Add Medicine</vt:lpstr>
      <vt:lpstr>Actions - Display Inventory, Check Expiry</vt:lpstr>
      <vt:lpstr>Actions - Sell Medicine</vt:lpstr>
      <vt:lpstr>Actions – Stock Refill, Show Total Sales</vt:lpstr>
      <vt:lpstr>Bus Reservation System </vt:lpstr>
      <vt:lpstr>Actions – Book a Seat, Seat Layout</vt:lpstr>
      <vt:lpstr>Actions –Passenger List, Cancel Booking</vt:lpstr>
      <vt:lpstr>Vehicle Fleet Management System</vt:lpstr>
      <vt:lpstr>Actions</vt:lpstr>
      <vt:lpstr>Actions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OF BANKING</dc:title>
  <dc:creator>Ainedembe Denis</dc:creator>
  <cp:lastModifiedBy>Ainedembe Denis</cp:lastModifiedBy>
  <cp:revision>212</cp:revision>
  <dcterms:created xsi:type="dcterms:W3CDTF">2002-04-20T20:58:21Z</dcterms:created>
  <dcterms:modified xsi:type="dcterms:W3CDTF">2026-03-06T16:55:49Z</dcterms:modified>
</cp:coreProperties>
</file>