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1" r:id="rId1"/>
  </p:sldMasterIdLst>
  <p:notesMasterIdLst>
    <p:notesMasterId r:id="rId9"/>
  </p:notesMasterIdLst>
  <p:handoutMasterIdLst>
    <p:handoutMasterId r:id="rId10"/>
  </p:handoutMasterIdLst>
  <p:sldIdLst>
    <p:sldId id="256" r:id="rId2"/>
    <p:sldId id="293" r:id="rId3"/>
    <p:sldId id="289" r:id="rId4"/>
    <p:sldId id="290" r:id="rId5"/>
    <p:sldId id="288" r:id="rId6"/>
    <p:sldId id="291" r:id="rId7"/>
    <p:sldId id="292" r:id="rId8"/>
  </p:sldIdLst>
  <p:sldSz cx="9144000" cy="6858000" type="screen4x3"/>
  <p:notesSz cx="6858000" cy="9144000"/>
  <p:embeddedFontLst>
    <p:embeddedFont>
      <p:font typeface="Arial Narrow" panose="020B0606020202030204" pitchFamily="34" charset="0"/>
      <p:regular r:id="rId11"/>
      <p:bold r:id="rId12"/>
      <p:italic r:id="rId13"/>
      <p:boldItalic r:id="rId14"/>
    </p:embeddedFont>
  </p:embeddedFont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pos="2880">
          <p15:clr>
            <a:srgbClr val="A4A3A4"/>
          </p15:clr>
        </p15:guide>
        <p15:guide id="3" pos="547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63" d="100"/>
          <a:sy n="63" d="100"/>
        </p:scale>
        <p:origin x="1308" y="16"/>
      </p:cViewPr>
      <p:guideLst>
        <p:guide orient="horz" pos="1536"/>
        <p:guide pos="2880"/>
        <p:guide pos="54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4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>
            <a:extLst>
              <a:ext uri="{FF2B5EF4-FFF2-40B4-BE49-F238E27FC236}">
                <a16:creationId xmlns:a16="http://schemas.microsoft.com/office/drawing/2014/main" id="{413E0868-A453-BAC1-EDCC-D85849CB700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altLang="en-UG"/>
              <a:t>Banking</a:t>
            </a:r>
          </a:p>
        </p:txBody>
      </p:sp>
      <p:sp>
        <p:nvSpPr>
          <p:cNvPr id="83971" name="Rectangle 3">
            <a:extLst>
              <a:ext uri="{FF2B5EF4-FFF2-40B4-BE49-F238E27FC236}">
                <a16:creationId xmlns:a16="http://schemas.microsoft.com/office/drawing/2014/main" id="{2ED835EB-BA0C-574F-1E70-8F70F788536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1CE781C4-521A-45E9-A784-B690473DD751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83972" name="Rectangle 4">
            <a:extLst>
              <a:ext uri="{FF2B5EF4-FFF2-40B4-BE49-F238E27FC236}">
                <a16:creationId xmlns:a16="http://schemas.microsoft.com/office/drawing/2014/main" id="{B4642420-C0AE-AD21-31FA-B8FE427DD85E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altLang="en-UG"/>
              <a:t>Chapter 1</a:t>
            </a:r>
          </a:p>
        </p:txBody>
      </p:sp>
      <p:sp>
        <p:nvSpPr>
          <p:cNvPr id="83973" name="Rectangle 5">
            <a:extLst>
              <a:ext uri="{FF2B5EF4-FFF2-40B4-BE49-F238E27FC236}">
                <a16:creationId xmlns:a16="http://schemas.microsoft.com/office/drawing/2014/main" id="{3515F3F5-C9C2-600F-68E0-A0F81777943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686AE93-C4BB-436D-ABCE-F9966A1C8FEC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>
            <a:extLst>
              <a:ext uri="{FF2B5EF4-FFF2-40B4-BE49-F238E27FC236}">
                <a16:creationId xmlns:a16="http://schemas.microsoft.com/office/drawing/2014/main" id="{3CCC52EE-066C-B81B-41E6-16A3771132C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altLang="en-UG"/>
              <a:t>Banking</a:t>
            </a:r>
          </a:p>
        </p:txBody>
      </p:sp>
      <p:sp>
        <p:nvSpPr>
          <p:cNvPr id="73731" name="Rectangle 3">
            <a:extLst>
              <a:ext uri="{FF2B5EF4-FFF2-40B4-BE49-F238E27FC236}">
                <a16:creationId xmlns:a16="http://schemas.microsoft.com/office/drawing/2014/main" id="{9BDA948E-D31F-D4C7-08AD-4A265F07C04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8D15F8F-DE68-4220-8EBC-E74FA7986C26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73732" name="Rectangle 4">
            <a:extLst>
              <a:ext uri="{FF2B5EF4-FFF2-40B4-BE49-F238E27FC236}">
                <a16:creationId xmlns:a16="http://schemas.microsoft.com/office/drawing/2014/main" id="{2D5E33B9-0A75-4BFD-A204-D27552273D38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73733" name="Rectangle 5">
            <a:extLst>
              <a:ext uri="{FF2B5EF4-FFF2-40B4-BE49-F238E27FC236}">
                <a16:creationId xmlns:a16="http://schemas.microsoft.com/office/drawing/2014/main" id="{D9A958B1-7D9A-CD11-5310-7F936F7449E3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G"/>
              <a:t>Click to edit Master text styles</a:t>
            </a:r>
          </a:p>
          <a:p>
            <a:pPr lvl="1"/>
            <a:r>
              <a:rPr lang="en-US" altLang="en-UG"/>
              <a:t>Second level</a:t>
            </a:r>
          </a:p>
          <a:p>
            <a:pPr lvl="2"/>
            <a:r>
              <a:rPr lang="en-US" altLang="en-UG"/>
              <a:t>Third level</a:t>
            </a:r>
          </a:p>
          <a:p>
            <a:pPr lvl="3"/>
            <a:r>
              <a:rPr lang="en-US" altLang="en-UG"/>
              <a:t>Fourth level</a:t>
            </a:r>
          </a:p>
          <a:p>
            <a:pPr lvl="4"/>
            <a:r>
              <a:rPr lang="en-US" altLang="en-UG"/>
              <a:t>Fifth level</a:t>
            </a:r>
          </a:p>
        </p:txBody>
      </p:sp>
      <p:sp>
        <p:nvSpPr>
          <p:cNvPr id="73734" name="Rectangle 6">
            <a:extLst>
              <a:ext uri="{FF2B5EF4-FFF2-40B4-BE49-F238E27FC236}">
                <a16:creationId xmlns:a16="http://schemas.microsoft.com/office/drawing/2014/main" id="{D4F844F5-6121-9DC2-B1B8-24D7D99050C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altLang="en-UG"/>
              <a:t>Chapter 1</a:t>
            </a:r>
          </a:p>
        </p:txBody>
      </p:sp>
      <p:sp>
        <p:nvSpPr>
          <p:cNvPr id="73735" name="Rectangle 7">
            <a:extLst>
              <a:ext uri="{FF2B5EF4-FFF2-40B4-BE49-F238E27FC236}">
                <a16:creationId xmlns:a16="http://schemas.microsoft.com/office/drawing/2014/main" id="{25864901-87E7-71F6-C571-2815F1BF52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A3A2244-17CF-45DB-8ECC-DAEF44590331}" type="slidenum">
              <a:rPr lang="en-US" altLang="en-UG"/>
              <a:pPr/>
              <a:t>‹#›</a:t>
            </a:fld>
            <a:endParaRPr lang="en-US" altLang="en-UG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FF57CF28-47FC-6DE7-A134-6FDA5DE6181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7B43E225-052B-FD38-872F-636DC95DF20F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BA3444CE-B626-7115-7960-0CF5A4BAA0D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021AAC4-A1F9-ECFE-436E-22A50355FD6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1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33E57386-0348-7653-07B6-DEC707F95F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915AFCAD-A3B9-5FEB-82F2-7259C711A7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05851-E682-2844-4FF5-8317DD99D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D74B0A2D-E979-D76A-1311-A2918F06D99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84C48349-12EC-B298-301D-4A6D82CA561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B70F0DCB-52CB-9907-8270-891443F0A85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ADB602DA-CD22-C582-1CCB-8D8BAD1B48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2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C824B0A3-843B-FC37-6B24-B38B6CFC67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9C5A7813-AAAE-B3BC-CA26-CC034BBDBFF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  <p:extLst>
      <p:ext uri="{BB962C8B-B14F-4D97-AF65-F5344CB8AC3E}">
        <p14:creationId xmlns:p14="http://schemas.microsoft.com/office/powerpoint/2010/main" val="27209586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308F6-F326-445A-8000-18129BD16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6116CD31-FE1E-99A8-EB49-33E3E7ECCA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20B37BEB-18D2-6B45-B071-C605C6ED0ED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A1CAADA2-8AFA-3BD8-F8C1-72B42FB2E9B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E5AD18CD-F7F0-1389-B6AD-6CA739DE45C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7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9D8294E7-81EE-0E96-0A27-B3896486EF7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7FE6DCB7-A53B-C1E1-CB33-396CA4D767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  <p:extLst>
      <p:ext uri="{BB962C8B-B14F-4D97-AF65-F5344CB8AC3E}">
        <p14:creationId xmlns:p14="http://schemas.microsoft.com/office/powerpoint/2010/main" val="86939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>
            <a:extLst>
              <a:ext uri="{FF2B5EF4-FFF2-40B4-BE49-F238E27FC236}">
                <a16:creationId xmlns:a16="http://schemas.microsoft.com/office/drawing/2014/main" id="{B352014D-6DC8-28C7-79D7-14B3CC645F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97625"/>
            <a:ext cx="91440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r"/>
            <a:r>
              <a:rPr lang="en-US" altLang="en-UG" dirty="0">
                <a:solidFill>
                  <a:srgbClr val="E0EDF0"/>
                </a:solidFill>
                <a:latin typeface="Arial Narrow" panose="020B0606020202030204" pitchFamily="34" charset="0"/>
              </a:rPr>
              <a:t>© Ainedembe Denis, 2024-M132-23999</a:t>
            </a:r>
          </a:p>
        </p:txBody>
      </p:sp>
      <p:sp>
        <p:nvSpPr>
          <p:cNvPr id="81923" name="Rectangle 3">
            <a:extLst>
              <a:ext uri="{FF2B5EF4-FFF2-40B4-BE49-F238E27FC236}">
                <a16:creationId xmlns:a16="http://schemas.microsoft.com/office/drawing/2014/main" id="{59D7F9BA-8958-A1D2-9CA9-DE6D04E65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09800"/>
            <a:ext cx="2011363" cy="4570413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n-UG" altLang="en-UG"/>
          </a:p>
        </p:txBody>
      </p:sp>
      <p:sp>
        <p:nvSpPr>
          <p:cNvPr id="81924" name="Rectangle 4">
            <a:extLst>
              <a:ext uri="{FF2B5EF4-FFF2-40B4-BE49-F238E27FC236}">
                <a16:creationId xmlns:a16="http://schemas.microsoft.com/office/drawing/2014/main" id="{B6768F74-6C4B-19D1-AAC6-25ECA9B003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772400" cy="2743200"/>
          </a:xfrm>
          <a:prstGeom prst="rect">
            <a:avLst/>
          </a:prstGeom>
          <a:gradFill rotWithShape="0">
            <a:gsLst>
              <a:gs pos="0">
                <a:srgbClr val="0066CC"/>
              </a:gs>
              <a:gs pos="100000">
                <a:srgbClr val="E0EDF0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G"/>
          </a:p>
        </p:txBody>
      </p:sp>
      <p:sp>
        <p:nvSpPr>
          <p:cNvPr id="81925" name="Rectangle 5">
            <a:extLst>
              <a:ext uri="{FF2B5EF4-FFF2-40B4-BE49-F238E27FC236}">
                <a16:creationId xmlns:a16="http://schemas.microsoft.com/office/drawing/2014/main" id="{3A913B70-44BD-F837-C183-B9E6CCEB2733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981200" y="152400"/>
            <a:ext cx="6399213" cy="2422525"/>
          </a:xfr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b"/>
          <a:lstStyle>
            <a:lvl1pPr>
              <a:defRPr sz="4400">
                <a:solidFill>
                  <a:schemeClr val="tx1"/>
                </a:solidFill>
                <a:effectLst/>
              </a:defRPr>
            </a:lvl1pPr>
          </a:lstStyle>
          <a:p>
            <a:pPr lvl="0"/>
            <a:r>
              <a:rPr lang="en-US" altLang="en-UG" noProof="0"/>
              <a:t>CLICK TO EDIT MASTER TITLE STYLE</a:t>
            </a:r>
          </a:p>
        </p:txBody>
      </p:sp>
      <p:sp>
        <p:nvSpPr>
          <p:cNvPr id="81926" name="Rectangle 6">
            <a:extLst>
              <a:ext uri="{FF2B5EF4-FFF2-40B4-BE49-F238E27FC236}">
                <a16:creationId xmlns:a16="http://schemas.microsoft.com/office/drawing/2014/main" id="{74647E21-3EDE-893F-4F0E-C46A5372A4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143000" y="3017838"/>
            <a:ext cx="7542213" cy="3382962"/>
          </a:xfrm>
        </p:spPr>
        <p:txBody>
          <a:bodyPr/>
          <a:lstStyle>
            <a:lvl1pPr marL="914400" indent="-914400">
              <a:buSzPct val="125000"/>
              <a:defRPr/>
            </a:lvl1pPr>
          </a:lstStyle>
          <a:p>
            <a:pPr lvl="0"/>
            <a:r>
              <a:rPr lang="en-US" altLang="en-UG" noProof="0" dirty="0"/>
              <a:t>Click to edit Master subtitle style</a:t>
            </a:r>
          </a:p>
        </p:txBody>
      </p:sp>
      <p:sp>
        <p:nvSpPr>
          <p:cNvPr id="81927" name="Rectangle 7">
            <a:extLst>
              <a:ext uri="{FF2B5EF4-FFF2-40B4-BE49-F238E27FC236}">
                <a16:creationId xmlns:a16="http://schemas.microsoft.com/office/drawing/2014/main" id="{EB5CA637-4E71-42C7-F711-59158B287669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E9713479-D2C5-48C2-AEF2-300D23B2E6DD}" type="slidenum">
              <a:rPr lang="en-US" altLang="en-UG"/>
              <a:pPr/>
              <a:t>‹#›</a:t>
            </a:fld>
            <a:endParaRPr lang="en-US" altLang="en-UG"/>
          </a:p>
        </p:txBody>
      </p:sp>
      <p:grpSp>
        <p:nvGrpSpPr>
          <p:cNvPr id="81928" name="Group 8">
            <a:extLst>
              <a:ext uri="{FF2B5EF4-FFF2-40B4-BE49-F238E27FC236}">
                <a16:creationId xmlns:a16="http://schemas.microsoft.com/office/drawing/2014/main" id="{3197CFB6-5C1F-0952-2A9B-C71DD9A547EE}"/>
              </a:ext>
            </a:extLst>
          </p:cNvPr>
          <p:cNvGrpSpPr>
            <a:grpSpLocks/>
          </p:cNvGrpSpPr>
          <p:nvPr/>
        </p:nvGrpSpPr>
        <p:grpSpPr bwMode="auto">
          <a:xfrm>
            <a:off x="5867400" y="304800"/>
            <a:ext cx="3078163" cy="182563"/>
            <a:chOff x="3696" y="192"/>
            <a:chExt cx="1939" cy="115"/>
          </a:xfrm>
        </p:grpSpPr>
        <p:sp>
          <p:nvSpPr>
            <p:cNvPr id="81929" name="Oval 9">
              <a:extLst>
                <a:ext uri="{FF2B5EF4-FFF2-40B4-BE49-F238E27FC236}">
                  <a16:creationId xmlns:a16="http://schemas.microsoft.com/office/drawing/2014/main" id="{75EC4EF0-7A0D-12EA-FD34-9A04CFF7A1AF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3696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0" name="Oval 10">
              <a:extLst>
                <a:ext uri="{FF2B5EF4-FFF2-40B4-BE49-F238E27FC236}">
                  <a16:creationId xmlns:a16="http://schemas.microsoft.com/office/drawing/2014/main" id="{028F0865-11DD-9C4B-FE1A-99B864C9687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4000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1" name="Oval 11">
              <a:extLst>
                <a:ext uri="{FF2B5EF4-FFF2-40B4-BE49-F238E27FC236}">
                  <a16:creationId xmlns:a16="http://schemas.microsoft.com/office/drawing/2014/main" id="{64AAC666-DA55-26A1-40F2-D60429C5482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4304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2" name="Oval 12">
              <a:extLst>
                <a:ext uri="{FF2B5EF4-FFF2-40B4-BE49-F238E27FC236}">
                  <a16:creationId xmlns:a16="http://schemas.microsoft.com/office/drawing/2014/main" id="{954C28E5-928B-3F61-5410-497E36C7E1F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4608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3" name="Oval 13">
              <a:extLst>
                <a:ext uri="{FF2B5EF4-FFF2-40B4-BE49-F238E27FC236}">
                  <a16:creationId xmlns:a16="http://schemas.microsoft.com/office/drawing/2014/main" id="{B90B39B9-1EFC-458C-6845-7222136B689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4912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4" name="Oval 14">
              <a:extLst>
                <a:ext uri="{FF2B5EF4-FFF2-40B4-BE49-F238E27FC236}">
                  <a16:creationId xmlns:a16="http://schemas.microsoft.com/office/drawing/2014/main" id="{E27F702D-6196-51DA-8923-37FC8CD744B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216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5" name="Oval 15">
              <a:extLst>
                <a:ext uri="{FF2B5EF4-FFF2-40B4-BE49-F238E27FC236}">
                  <a16:creationId xmlns:a16="http://schemas.microsoft.com/office/drawing/2014/main" id="{187251F4-EDF4-16BD-AD6D-EF3B18F6E92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520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</p:grpSp>
    </p:spTree>
  </p:cSld>
  <p:clrMapOvr>
    <a:masterClrMapping/>
  </p:clrMapOvr>
  <p:transition spd="med">
    <p:cover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B1EBD-72CF-1459-54AA-D4A62DFA2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263A1-B477-8F53-3DED-C589AAFAF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G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67ACCC-660D-8CDF-88F3-580378CB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3666B2-E3AA-ADFE-637D-57B2F3E13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16492-CD4A-E294-F128-62F81B983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9FC8CFE8-2379-4982-9491-BFE63574D458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4203634136"/>
      </p:ext>
    </p:extLst>
  </p:cSld>
  <p:clrMapOvr>
    <a:masterClrMapping/>
  </p:clrMapOvr>
  <p:transition spd="med">
    <p:cover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14E6F-C4C8-54D5-F1C7-3F6D024AD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8CD6A2-DD6B-43F8-2A94-C81822A6A1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3E4D9A-56FA-F87E-DDBF-B5FAE2779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34355-E807-F8C1-D102-0CB40C3B5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49EBE-D6F8-E816-1865-A73F1FE83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41FDE60B-41D3-4066-92AC-8665FF8CB5B0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1645011376"/>
      </p:ext>
    </p:extLst>
  </p:cSld>
  <p:clrMapOvr>
    <a:masterClrMapping/>
  </p:clrMapOvr>
  <p:transition spd="med">
    <p:cover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80DEB-D353-268D-9847-9D1A2607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CC027-372C-B540-5DE6-3ACAF517AD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10000" cy="4570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B5842D-B0B9-0E78-3313-1D962C136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3810000" cy="4570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D19074-6D68-F76F-E174-20387F7BD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376494-9176-2BF1-6415-A4E6A1967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19329-C8EC-9981-6BCC-D5D220A7C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CE7537B9-0BA9-4794-9A26-262DC9F881AD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4202081212"/>
      </p:ext>
    </p:extLst>
  </p:cSld>
  <p:clrMapOvr>
    <a:masterClrMapping/>
  </p:clrMapOvr>
  <p:transition spd="med">
    <p:cover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7F024-CC2F-813E-4EF8-6FA711231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1EE5F-4F93-B93F-E2CB-7DAD183D96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C0A393-79F8-059E-1F7A-ED6AA5F423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AF9D57-FA59-8D1E-F394-B67664F913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4C64FA-87EE-8103-519C-D7E675C0D0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0BC7D0-F537-01A3-FE78-E3768E078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EDADE8-5C6B-5CFC-688D-070799186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D036D9-EA12-B6FC-8A4F-D37ED732E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F9D66D36-0F71-425A-B9F3-818A01125D51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216261472"/>
      </p:ext>
    </p:extLst>
  </p:cSld>
  <p:clrMapOvr>
    <a:masterClrMapping/>
  </p:clrMapOvr>
  <p:transition spd="med">
    <p:cover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D8C3-C520-86AC-B7C1-99F2FE809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93B404-0133-FD1F-BCBD-FCE806314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DC3EAC-B9A8-D08D-D6B6-6DED04208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962154-77D5-4237-1283-CB9A865A7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FD9CE47C-F90A-4653-9AF7-B918EDBB8A77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803087271"/>
      </p:ext>
    </p:extLst>
  </p:cSld>
  <p:clrMapOvr>
    <a:masterClrMapping/>
  </p:clrMapOvr>
  <p:transition spd="med">
    <p:cover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A890F3-19A4-8C89-B3A2-4B26926E0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A3B9F2-5A88-05A9-84EC-2F53D467B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1AD77-8F4B-BB98-9E6A-1BC5E0A8A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D32CA754-6AA2-4E16-AB0A-63CCF004AE45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812406830"/>
      </p:ext>
    </p:extLst>
  </p:cSld>
  <p:clrMapOvr>
    <a:masterClrMapping/>
  </p:clrMapOvr>
  <p:transition spd="med">
    <p:cover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BB709-B4FC-BD5A-EEDA-25AF931F7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8A115-CFEC-B422-D84B-1B21A84D1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8DAC05-BD50-2EAE-4247-7FE9FEE4FC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013941-C7AA-3374-6043-739D63445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47799-6E7D-2788-3756-6AB78349D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A1B70B-AAD7-744C-D8AE-D264D2DCF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92DDF584-C563-4AF3-9C85-74AE268379EC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1669154459"/>
      </p:ext>
    </p:extLst>
  </p:cSld>
  <p:clrMapOvr>
    <a:masterClrMapping/>
  </p:clrMapOvr>
  <p:transition spd="med">
    <p:cover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3DA78-5643-5201-C9A3-67173A42E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AEADD1-A981-652F-2E3F-23DF0C9CC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9F367-EDD6-9710-0004-F8281B4C37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74D70C-8EAD-A3F2-9A46-BCC6E0421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39757D-078C-DCE8-4D38-B7B59BE8C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0D770C-9D69-C42A-D2FE-C53191FB7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1F8DE97C-F3F8-4995-ABC1-945329C93974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3549515415"/>
      </p:ext>
    </p:extLst>
  </p:cSld>
  <p:clrMapOvr>
    <a:masterClrMapping/>
  </p:clrMapOvr>
  <p:transition spd="med">
    <p:cover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30DAD-9D4A-CA7A-3FB1-051039CB7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951FFC-6540-837C-7D9B-3C1B947738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265B4-2B28-2FF4-1E52-C2E15FD97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1E71E-2C53-DF35-CF54-9161823C7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B4568-6B3A-75D9-4C3B-8A58A0D54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1C4BC210-7EA5-4C0F-AD45-5AE9BB47700C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1449404267"/>
      </p:ext>
    </p:extLst>
  </p:cSld>
  <p:clrMapOvr>
    <a:masterClrMapping/>
  </p:clrMapOvr>
  <p:transition spd="med">
    <p:cover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A5F669-A345-2AD2-A96E-AE62530234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740525" y="457200"/>
            <a:ext cx="2170113" cy="57134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2ADD31-025E-FC62-BA1C-44D5A7FEC9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27013" y="457200"/>
            <a:ext cx="6361112" cy="57134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99163-EE44-6E4B-24CD-63247079D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7FC43-74F8-EECA-49E0-A8E3FD165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3AC50E-52C1-3A08-4BD8-AF457C355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182EEFDC-B650-41B7-9366-DE22AEB01362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314157448"/>
      </p:ext>
    </p:extLst>
  </p:cSld>
  <p:clrMapOvr>
    <a:masterClrMapping/>
  </p:clrMapOvr>
  <p:transition spd="med">
    <p:cover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D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>
            <a:extLst>
              <a:ext uri="{FF2B5EF4-FFF2-40B4-BE49-F238E27FC236}">
                <a16:creationId xmlns:a16="http://schemas.microsoft.com/office/drawing/2014/main" id="{27514279-1D69-D82A-37E3-DCCDD7EB85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1363" cy="6553200"/>
          </a:xfrm>
          <a:prstGeom prst="rect">
            <a:avLst/>
          </a:prstGeom>
          <a:gradFill rotWithShape="0">
            <a:gsLst>
              <a:gs pos="0">
                <a:srgbClr val="E0EDF0"/>
              </a:gs>
              <a:gs pos="100000">
                <a:schemeClr val="accent1"/>
              </a:gs>
            </a:gsLst>
            <a:lin ang="540000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G"/>
          </a:p>
        </p:txBody>
      </p:sp>
      <p:sp>
        <p:nvSpPr>
          <p:cNvPr id="80899" name="Rectangle 3">
            <a:extLst>
              <a:ext uri="{FF2B5EF4-FFF2-40B4-BE49-F238E27FC236}">
                <a16:creationId xmlns:a16="http://schemas.microsoft.com/office/drawing/2014/main" id="{86D805D8-7BBD-9079-7198-EDE168BCEF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27013" y="457200"/>
            <a:ext cx="8683625" cy="685800"/>
          </a:xfrm>
          <a:prstGeom prst="rect">
            <a:avLst/>
          </a:prstGeom>
          <a:solidFill>
            <a:srgbClr val="008000"/>
          </a:solidFill>
          <a:ln>
            <a:noFill/>
          </a:ln>
          <a:effectLst>
            <a:outerShdw dist="107763" dir="2700000" algn="ctr" rotWithShape="0">
              <a:schemeClr val="bg2"/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G"/>
              <a:t>CLICK TO EDIT MASTER TITLE STYLE</a:t>
            </a:r>
          </a:p>
        </p:txBody>
      </p:sp>
      <p:sp>
        <p:nvSpPr>
          <p:cNvPr id="80900" name="Rectangle 4">
            <a:extLst>
              <a:ext uri="{FF2B5EF4-FFF2-40B4-BE49-F238E27FC236}">
                <a16:creationId xmlns:a16="http://schemas.microsoft.com/office/drawing/2014/main" id="{3CC01879-31A8-62D8-542B-20F84BBA75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772400" cy="4570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G"/>
              <a:t>Click to edit Master text styles</a:t>
            </a:r>
          </a:p>
          <a:p>
            <a:pPr lvl="1"/>
            <a:r>
              <a:rPr lang="en-US" altLang="en-UG"/>
              <a:t>Second level</a:t>
            </a:r>
          </a:p>
          <a:p>
            <a:pPr lvl="2"/>
            <a:r>
              <a:rPr lang="en-US" altLang="en-UG"/>
              <a:t>Third level</a:t>
            </a:r>
          </a:p>
          <a:p>
            <a:pPr lvl="3"/>
            <a:r>
              <a:rPr lang="en-US" altLang="en-UG"/>
              <a:t>Fourth level</a:t>
            </a:r>
          </a:p>
          <a:p>
            <a:pPr lvl="4"/>
            <a:r>
              <a:rPr lang="en-US" altLang="en-UG"/>
              <a:t>Fifth level</a:t>
            </a:r>
          </a:p>
        </p:txBody>
      </p:sp>
      <p:sp>
        <p:nvSpPr>
          <p:cNvPr id="80901" name="Rectangle 5">
            <a:extLst>
              <a:ext uri="{FF2B5EF4-FFF2-40B4-BE49-F238E27FC236}">
                <a16:creationId xmlns:a16="http://schemas.microsoft.com/office/drawing/2014/main" id="{393A92DA-DBDC-2FE8-07FD-554EE3AA5A4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010400" y="41148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+mn-lt"/>
              </a:defRPr>
            </a:lvl1pPr>
          </a:lstStyle>
          <a:p>
            <a:endParaRPr lang="en-US" altLang="en-UG"/>
          </a:p>
        </p:txBody>
      </p:sp>
      <p:sp>
        <p:nvSpPr>
          <p:cNvPr id="80902" name="Rectangle 6">
            <a:extLst>
              <a:ext uri="{FF2B5EF4-FFF2-40B4-BE49-F238E27FC236}">
                <a16:creationId xmlns:a16="http://schemas.microsoft.com/office/drawing/2014/main" id="{FD4A09D7-AFDF-07AE-56CF-6EED8E9F1B27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6553200" y="4800600"/>
            <a:ext cx="2362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+mn-lt"/>
              </a:defRPr>
            </a:lvl1pPr>
          </a:lstStyle>
          <a:p>
            <a:endParaRPr lang="en-US" altLang="en-UG"/>
          </a:p>
        </p:txBody>
      </p:sp>
      <p:sp>
        <p:nvSpPr>
          <p:cNvPr id="80903" name="Rectangle 7">
            <a:extLst>
              <a:ext uri="{FF2B5EF4-FFF2-40B4-BE49-F238E27FC236}">
                <a16:creationId xmlns:a16="http://schemas.microsoft.com/office/drawing/2014/main" id="{C8C9467E-CA2B-74F3-C16A-709782718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97625"/>
            <a:ext cx="91440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r"/>
            <a:r>
              <a:rPr lang="en-US" altLang="en-UG" dirty="0">
                <a:solidFill>
                  <a:srgbClr val="E0EDF0"/>
                </a:solidFill>
                <a:latin typeface="Arial Narrow" panose="020B0606020202030204" pitchFamily="34" charset="0"/>
              </a:rPr>
              <a:t>© Ainedembe Denis</a:t>
            </a:r>
          </a:p>
        </p:txBody>
      </p:sp>
      <p:sp>
        <p:nvSpPr>
          <p:cNvPr id="80904" name="Rectangle 8">
            <a:extLst>
              <a:ext uri="{FF2B5EF4-FFF2-40B4-BE49-F238E27FC236}">
                <a16:creationId xmlns:a16="http://schemas.microsoft.com/office/drawing/2014/main" id="{97A13079-6EA3-C7A4-266E-C1393F8ADC6F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397625"/>
            <a:ext cx="2011363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66CC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FFCC00"/>
                </a:solidFill>
                <a:latin typeface="+mn-lt"/>
              </a:defRPr>
            </a:lvl1pPr>
          </a:lstStyle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123AB89C-1184-422F-A25B-A3C3FCC3E457}" type="slidenum">
              <a:rPr lang="en-US" altLang="en-UG"/>
              <a:pPr/>
              <a:t>‹#›</a:t>
            </a:fld>
            <a:endParaRPr lang="en-US" altLang="en-UG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ransition spd="med">
    <p:cover dir="u"/>
  </p:transition>
  <p:hf hdr="0" ftr="0" dt="0"/>
  <p:txStyles>
    <p:titleStyle>
      <a:lvl1pPr algn="l" rtl="0" fontAlgn="base">
        <a:spcBef>
          <a:spcPts val="60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2pPr>
      <a:lvl3pPr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3pPr>
      <a:lvl4pPr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4pPr>
      <a:lvl5pPr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5pPr>
      <a:lvl6pPr marL="457200"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6pPr>
      <a:lvl7pPr marL="914400"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7pPr>
      <a:lvl8pPr marL="1371600"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8pPr>
      <a:lvl9pPr marL="1828800"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rgbClr val="008000"/>
        </a:buClr>
        <a:buFont typeface="Wingdings" panose="05000000000000000000" pitchFamily="2" charset="2"/>
        <a:buChar char="l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l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l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panose="05000000000000000000" pitchFamily="2" charset="2"/>
        <a:buChar char="l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panose="05000000000000000000" pitchFamily="2" charset="2"/>
        <a:buChar char="l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Ainedembe-Denis/Systems-Programing---C-PROJECTS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1619C6C9-8419-6C23-829B-F69077953329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381000" y="838200"/>
            <a:ext cx="8305800" cy="1752600"/>
          </a:xfrm>
        </p:spPr>
        <p:txBody>
          <a:bodyPr/>
          <a:lstStyle/>
          <a:p>
            <a:r>
              <a:rPr lang="en-US" altLang="en-UG" dirty="0"/>
              <a:t>ADVANCED SYSTEMS PROGRAMING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D011BC-0BDD-6423-FDC6-BA83AE529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8728482"/>
              </p:ext>
            </p:extLst>
          </p:nvPr>
        </p:nvGraphicFramePr>
        <p:xfrm>
          <a:off x="2286000" y="3048000"/>
          <a:ext cx="6485694" cy="2268651"/>
        </p:xfrm>
        <a:graphic>
          <a:graphicData uri="http://schemas.openxmlformats.org/drawingml/2006/table">
            <a:tbl>
              <a:tblPr/>
              <a:tblGrid>
                <a:gridCol w="2507910">
                  <a:extLst>
                    <a:ext uri="{9D8B030D-6E8A-4147-A177-3AD203B41FA5}">
                      <a16:colId xmlns:a16="http://schemas.microsoft.com/office/drawing/2014/main" val="2833264311"/>
                    </a:ext>
                  </a:extLst>
                </a:gridCol>
                <a:gridCol w="3977784">
                  <a:extLst>
                    <a:ext uri="{9D8B030D-6E8A-4147-A177-3AD203B41FA5}">
                      <a16:colId xmlns:a16="http://schemas.microsoft.com/office/drawing/2014/main" val="2784720884"/>
                    </a:ext>
                  </a:extLst>
                </a:gridCol>
              </a:tblGrid>
              <a:tr h="49469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G" sz="30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Systems Programming - C Projects</a:t>
                      </a:r>
                    </a:p>
                  </a:txBody>
                  <a:tcPr marL="136991" marR="136991" marT="68496" marB="68496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G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2084472"/>
                  </a:ext>
                </a:extLst>
              </a:tr>
              <a:tr h="2949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STUDENT NAME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AINEDEMBE DENIS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7606296"/>
                  </a:ext>
                </a:extLst>
              </a:tr>
              <a:tr h="2949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REG. NO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2024-M132-23999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5980039"/>
                  </a:ext>
                </a:extLst>
              </a:tr>
              <a:tr h="2949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LECTURER 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Dr. WAUYO FRED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648244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24157260-EAF0-52C3-D562-0A62937135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533400"/>
            <a:ext cx="1989894" cy="21104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1C4332F-70D3-963B-507B-962959770D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4876800"/>
            <a:ext cx="1752600" cy="1752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B99E248-BFDB-BC0D-1107-2161100C60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3030220"/>
            <a:ext cx="1447800" cy="14478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6336F9C-7517-44BD-9512-8E7DA3527A1A}"/>
              </a:ext>
            </a:extLst>
          </p:cNvPr>
          <p:cNvSpPr txBox="1"/>
          <p:nvPr/>
        </p:nvSpPr>
        <p:spPr>
          <a:xfrm>
            <a:off x="2225040" y="5839404"/>
            <a:ext cx="65466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sz="1600" dirty="0">
                <a:hlinkClick r:id="rId6"/>
              </a:rPr>
              <a:t>https://github.com/Ainedembe-Denis/Systems-Programing---C-PROJECTS</a:t>
            </a:r>
            <a:r>
              <a:rPr lang="en-US" sz="1600" dirty="0"/>
              <a:t> </a:t>
            </a:r>
            <a:endParaRPr lang="en-UG" sz="1600" dirty="0"/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F044B898-A2DA-17D3-E91D-8BB92C1609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8272" y="5492158"/>
            <a:ext cx="3289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914400" indent="-9144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SzPct val="125000"/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1800" dirty="0" err="1"/>
              <a:t>Github</a:t>
            </a:r>
            <a:r>
              <a:rPr lang="en-US" altLang="en-UG" sz="1800" dirty="0"/>
              <a:t> Repository:</a:t>
            </a:r>
          </a:p>
        </p:txBody>
      </p:sp>
    </p:spTree>
  </p:cSld>
  <p:clrMapOvr>
    <a:masterClrMapping/>
  </p:clrMapOvr>
  <p:transition spd="med">
    <p:cover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B8B1C-ED24-9D9F-FEF6-15C6227B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B7C25EEB-8985-0B98-CF76-C7AF2E0DA90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en-UG" dirty="0"/>
              <a:t>  Slide 1</a:t>
            </a:r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BFE61883-7AF1-A100-6DF6-0C0C090540B0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011363" y="609600"/>
            <a:ext cx="6399213" cy="1752600"/>
          </a:xfrm>
        </p:spPr>
        <p:txBody>
          <a:bodyPr/>
          <a:lstStyle/>
          <a:p>
            <a:r>
              <a:rPr lang="en-US" altLang="en-UG" dirty="0"/>
              <a:t>Bank Account Management System 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9C7FDBE9-18EE-2A09-5E71-06C0A925EB10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143001" y="2907506"/>
            <a:ext cx="7086600" cy="3188494"/>
          </a:xfrm>
        </p:spPr>
        <p:txBody>
          <a:bodyPr/>
          <a:lstStyle/>
          <a:p>
            <a:pPr marL="0" indent="0" algn="just">
              <a:buNone/>
            </a:pPr>
            <a:r>
              <a:rPr lang="en-US" altLang="en-UG" sz="2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 system for managing bank accounts. It supports: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account creation, 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deposits,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withdrawals,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balance inquiries and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account details inquiries</a:t>
            </a:r>
          </a:p>
        </p:txBody>
      </p:sp>
      <p:sp>
        <p:nvSpPr>
          <p:cNvPr id="2052" name="Text Box 4">
            <a:extLst>
              <a:ext uri="{FF2B5EF4-FFF2-40B4-BE49-F238E27FC236}">
                <a16:creationId xmlns:a16="http://schemas.microsoft.com/office/drawing/2014/main" id="{ED0C21B9-6EB3-E0A7-1914-05518591E5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025" y="404813"/>
            <a:ext cx="1384300" cy="2395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b" anchorCtr="1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G" sz="189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EFB6E0F-991C-BC11-E999-7B31A98A33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5400" y="3886200"/>
            <a:ext cx="3201988" cy="1447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914400" indent="-9144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SzPct val="125000"/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5600" indent="-355600"/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Role-based access (Teller/Admin).</a:t>
            </a:r>
          </a:p>
          <a:p>
            <a:pPr marL="355600" indent="-355600"/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Multi-currency support (UGX/USD).</a:t>
            </a:r>
          </a:p>
          <a:p>
            <a:pPr marL="355600" indent="-355600"/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Minimum balance enforcement.</a:t>
            </a:r>
          </a:p>
          <a:p>
            <a:pPr marL="355600" indent="-355600"/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Audit logging.</a:t>
            </a:r>
            <a:endParaRPr lang="en-US" altLang="en-UG" sz="1600" dirty="0"/>
          </a:p>
        </p:txBody>
      </p:sp>
    </p:spTree>
    <p:extLst>
      <p:ext uri="{BB962C8B-B14F-4D97-AF65-F5344CB8AC3E}">
        <p14:creationId xmlns:p14="http://schemas.microsoft.com/office/powerpoint/2010/main" val="2459902390"/>
      </p:ext>
    </p:extLst>
  </p:cSld>
  <p:clrMapOvr>
    <a:masterClrMapping/>
  </p:clrMapOvr>
  <p:transition spd="med">
    <p:cover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56EE1-2DF4-A1EB-CB42-FB2A8B4CE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AEE87-C493-3E48-2215-9F4A6AF41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sz="3000" dirty="0"/>
              <a:t>User Authentication, Authorization &amp; Logging</a:t>
            </a:r>
            <a:endParaRPr lang="en-UG" sz="3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720A8-3DAC-618D-F6C8-315ED3FE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en-UG" dirty="0"/>
              <a:t>  Slide</a:t>
            </a:r>
            <a:r>
              <a:rPr lang="en-US" altLang="en-UG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r>
              <a:rPr lang="en-US" altLang="en-UG" dirty="0"/>
              <a:t>2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AC3658F-37C6-FCAA-C2A8-231D63DD8CF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8600" y="838200"/>
            <a:ext cx="3289935" cy="457200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Login as Teller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7D1B6E-5774-9ADE-93EB-E4A754E655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61" t="9183"/>
          <a:stretch>
            <a:fillRect/>
          </a:stretch>
        </p:blipFill>
        <p:spPr>
          <a:xfrm>
            <a:off x="293053" y="1295399"/>
            <a:ext cx="3808180" cy="22605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3B00B2-ECC8-DC8F-3164-76234F9397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183"/>
          <a:stretch>
            <a:fillRect/>
          </a:stretch>
        </p:blipFill>
        <p:spPr>
          <a:xfrm>
            <a:off x="4338322" y="1295400"/>
            <a:ext cx="4480558" cy="2260599"/>
          </a:xfrm>
          <a:prstGeom prst="rect">
            <a:avLst/>
          </a:prstGeom>
        </p:spPr>
      </p:pic>
      <p:sp>
        <p:nvSpPr>
          <p:cNvPr id="8" name="Rectangle 3">
            <a:extLst>
              <a:ext uri="{FF2B5EF4-FFF2-40B4-BE49-F238E27FC236}">
                <a16:creationId xmlns:a16="http://schemas.microsoft.com/office/drawing/2014/main" id="{979D8ED8-0FA1-2A2F-A6E1-758859D9A1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7200" y="838200"/>
            <a:ext cx="3289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Login as System Admin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F65DA9E-A08B-8FF6-722D-E80E208075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0" y="3884617"/>
            <a:ext cx="6690358" cy="2336789"/>
          </a:xfrm>
          <a:prstGeom prst="rect">
            <a:avLst/>
          </a:prstGeom>
        </p:spPr>
      </p:pic>
      <p:sp>
        <p:nvSpPr>
          <p:cNvPr id="13" name="Rectangle 3">
            <a:extLst>
              <a:ext uri="{FF2B5EF4-FFF2-40B4-BE49-F238E27FC236}">
                <a16:creationId xmlns:a16="http://schemas.microsoft.com/office/drawing/2014/main" id="{A129C103-2FCA-679E-D6AF-E6B7AC635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3376" y="4569616"/>
            <a:ext cx="1677987" cy="9667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Audit Trail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1500" b="1" dirty="0"/>
              <a:t>- For Accountability</a:t>
            </a:r>
          </a:p>
        </p:txBody>
      </p:sp>
    </p:spTree>
    <p:extLst>
      <p:ext uri="{BB962C8B-B14F-4D97-AF65-F5344CB8AC3E}">
        <p14:creationId xmlns:p14="http://schemas.microsoft.com/office/powerpoint/2010/main" val="429572457"/>
      </p:ext>
    </p:extLst>
  </p:cSld>
  <p:clrMapOvr>
    <a:masterClrMapping/>
  </p:clrMapOvr>
  <p:transition spd="med">
    <p:cover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CBA4F-A9B8-3EDF-0A5E-3E4533D6F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AACE1-F2AE-EA06-EE28-67F4B9509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D30CC-4A67-3CA8-ABCF-218E5E0C0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en-UG" dirty="0"/>
              <a:t>  Slide 3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0D5594B-946A-C050-159E-9F71EADEB76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39065" y="838200"/>
            <a:ext cx="3289935" cy="360204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Create New Account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F3F259E4-2A2F-026D-C2AE-961B1308B4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0" y="838200"/>
            <a:ext cx="3289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Account Inquiry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9309476-A1E8-5117-7886-2B72FB550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34" y="1252904"/>
            <a:ext cx="3719882" cy="225229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24C066C-5B89-DA14-7F42-DE8646530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573" y="3984576"/>
            <a:ext cx="3648499" cy="2316053"/>
          </a:xfrm>
          <a:prstGeom prst="rect">
            <a:avLst/>
          </a:prstGeom>
        </p:spPr>
      </p:pic>
      <p:sp>
        <p:nvSpPr>
          <p:cNvPr id="16" name="Rectangle 3">
            <a:extLst>
              <a:ext uri="{FF2B5EF4-FFF2-40B4-BE49-F238E27FC236}">
                <a16:creationId xmlns:a16="http://schemas.microsoft.com/office/drawing/2014/main" id="{693896E2-7CFD-D34A-9CCB-1042FB7EC1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3505200"/>
            <a:ext cx="368247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Deposit money to account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4A77436-CCCB-1F82-2E4F-C44267F217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427" y="1252904"/>
            <a:ext cx="3429000" cy="239918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AFF4D4A-FFA0-91D2-B9EB-E2AA93369B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4166" y="4343400"/>
            <a:ext cx="4537261" cy="1914532"/>
          </a:xfrm>
          <a:prstGeom prst="rect">
            <a:avLst/>
          </a:prstGeom>
        </p:spPr>
      </p:pic>
      <p:sp>
        <p:nvSpPr>
          <p:cNvPr id="21" name="Rectangle 3">
            <a:extLst>
              <a:ext uri="{FF2B5EF4-FFF2-40B4-BE49-F238E27FC236}">
                <a16:creationId xmlns:a16="http://schemas.microsoft.com/office/drawing/2014/main" id="{C892A4F3-6317-CB6F-BBDA-F5E4F2B2BF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3400" y="3810000"/>
            <a:ext cx="3289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Withdrawing money</a:t>
            </a:r>
          </a:p>
        </p:txBody>
      </p:sp>
    </p:spTree>
    <p:extLst>
      <p:ext uri="{BB962C8B-B14F-4D97-AF65-F5344CB8AC3E}">
        <p14:creationId xmlns:p14="http://schemas.microsoft.com/office/powerpoint/2010/main" val="847851706"/>
      </p:ext>
    </p:extLst>
  </p:cSld>
  <p:clrMapOvr>
    <a:masterClrMapping/>
  </p:clrMapOvr>
  <p:transition spd="med">
    <p:cover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FA47C-8D25-7B93-7B2B-B65418641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Checks / Controls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E22D8-CDF7-43D7-A02B-6EE01C119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en-UG" dirty="0"/>
              <a:t>  Slide 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A5617E-5A18-1027-0796-F0C1A5990A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93" y="1219200"/>
            <a:ext cx="3882707" cy="2026584"/>
          </a:xfrm>
          <a:prstGeom prst="rect">
            <a:avLst/>
          </a:prstGeom>
        </p:spPr>
      </p:pic>
      <p:sp>
        <p:nvSpPr>
          <p:cNvPr id="11" name="Rectangle 3">
            <a:extLst>
              <a:ext uri="{FF2B5EF4-FFF2-40B4-BE49-F238E27FC236}">
                <a16:creationId xmlns:a16="http://schemas.microsoft.com/office/drawing/2014/main" id="{129FE799-C8F4-5524-A1B7-EC4442C405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52400" y="762000"/>
            <a:ext cx="3670935" cy="457200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Insufficient balance check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595647C-40BC-A6C3-4668-A5F711C716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676" y="1282517"/>
            <a:ext cx="4248562" cy="1994083"/>
          </a:xfrm>
          <a:prstGeom prst="rect">
            <a:avLst/>
          </a:prstGeom>
        </p:spPr>
      </p:pic>
      <p:sp>
        <p:nvSpPr>
          <p:cNvPr id="14" name="Rectangle 3">
            <a:extLst>
              <a:ext uri="{FF2B5EF4-FFF2-40B4-BE49-F238E27FC236}">
                <a16:creationId xmlns:a16="http://schemas.microsoft.com/office/drawing/2014/main" id="{0E2697DF-088B-4034-2381-5A1BAE14B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7325" y="804661"/>
            <a:ext cx="3670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Duplicate Accounts check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2E8EBEC-9C36-7576-CA89-EDB050E8D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352" y="3917101"/>
            <a:ext cx="3838516" cy="1787544"/>
          </a:xfrm>
          <a:prstGeom prst="rect">
            <a:avLst/>
          </a:prstGeom>
        </p:spPr>
      </p:pic>
      <p:sp>
        <p:nvSpPr>
          <p:cNvPr id="17" name="Rectangle 3">
            <a:extLst>
              <a:ext uri="{FF2B5EF4-FFF2-40B4-BE49-F238E27FC236}">
                <a16:creationId xmlns:a16="http://schemas.microsoft.com/office/drawing/2014/main" id="{D5BAF6CE-763F-DE2B-D22D-9DFA47618C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3408204"/>
            <a:ext cx="3670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Account not found check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2F2A59A-0A54-DF64-4ACD-4E00BD5E56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676" y="3962400"/>
            <a:ext cx="4218082" cy="1268721"/>
          </a:xfrm>
          <a:prstGeom prst="rect">
            <a:avLst/>
          </a:prstGeom>
        </p:spPr>
      </p:pic>
      <p:sp>
        <p:nvSpPr>
          <p:cNvPr id="20" name="Rectangle 3">
            <a:extLst>
              <a:ext uri="{FF2B5EF4-FFF2-40B4-BE49-F238E27FC236}">
                <a16:creationId xmlns:a16="http://schemas.microsoft.com/office/drawing/2014/main" id="{EC920E5E-0D88-39E9-6484-EA6D68224E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8665" y="3505200"/>
            <a:ext cx="3670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Invalid credentials check</a:t>
            </a:r>
          </a:p>
        </p:txBody>
      </p:sp>
    </p:spTree>
    <p:extLst>
      <p:ext uri="{BB962C8B-B14F-4D97-AF65-F5344CB8AC3E}">
        <p14:creationId xmlns:p14="http://schemas.microsoft.com/office/powerpoint/2010/main" val="3478617230"/>
      </p:ext>
    </p:extLst>
  </p:cSld>
  <p:clrMapOvr>
    <a:masterClrMapping/>
  </p:clrMapOvr>
  <p:transition spd="med">
    <p:cover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326CA-119D-5F85-F0BE-CABE3F7C4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7BD70-3FE5-DC5C-E8D0-A78A4FCB8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228600"/>
            <a:ext cx="8683625" cy="685800"/>
          </a:xfrm>
        </p:spPr>
        <p:txBody>
          <a:bodyPr/>
          <a:lstStyle/>
          <a:p>
            <a:r>
              <a:rPr lang="en-US" dirty="0"/>
              <a:t>Audit Trail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0BDF6-5CEE-1BA4-A4C1-9168CAF0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en-UG" dirty="0"/>
              <a:t>  Slide 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451664-ECE1-43A9-6A3E-458DADF6D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151" y="1226481"/>
            <a:ext cx="8617487" cy="4869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508563"/>
      </p:ext>
    </p:extLst>
  </p:cSld>
  <p:clrMapOvr>
    <a:masterClrMapping/>
  </p:clrMapOvr>
  <p:transition spd="med">
    <p:cover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FB74D-C928-AF77-A2EC-EEF47E5CC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D9269CA9-5A2F-6B2F-4BC3-E3749B76293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en-UG"/>
              <a:t>  Slide</a:t>
            </a:r>
            <a:r>
              <a:rPr lang="en-US" altLang="en-UG" b="1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BC3081FC-FE66-4E95-8D86-AEF7CCCC6058}" type="slidenum">
              <a:rPr lang="en-US" altLang="en-UG"/>
              <a:pPr/>
              <a:t>7</a:t>
            </a:fld>
            <a:endParaRPr lang="en-US" altLang="en-UG"/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DD3BC078-EA0A-0DDF-9284-E6E2FF68CFCC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011363" y="609600"/>
            <a:ext cx="6399213" cy="1752600"/>
          </a:xfrm>
        </p:spPr>
        <p:txBody>
          <a:bodyPr/>
          <a:lstStyle/>
          <a:p>
            <a:r>
              <a:rPr lang="en-US" altLang="en-UG" dirty="0"/>
              <a:t>Loan Eligibility &amp; EMI Calculator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D2C2D997-5B78-EA69-44F7-E2B248547C4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143000" y="2743200"/>
            <a:ext cx="7315200" cy="3505200"/>
          </a:xfrm>
        </p:spPr>
        <p:txBody>
          <a:bodyPr/>
          <a:lstStyle/>
          <a:p>
            <a:pPr indent="-650875" algn="just"/>
            <a:r>
              <a:rPr lang="en-US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This program calculates the Monthly Loan EMI (Equated Monthly Installment).</a:t>
            </a:r>
          </a:p>
          <a:p>
            <a:pPr indent="-650875" algn="just"/>
            <a:endParaRPr lang="en-US" altLang="en-UG" sz="18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indent="-650875" algn="just"/>
            <a:r>
              <a:rPr lang="en-US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The program converts the annual interest rate to a monthly interest rate.</a:t>
            </a:r>
          </a:p>
          <a:p>
            <a:pPr indent="-650875" algn="just"/>
            <a:endParaRPr lang="en-US" altLang="en-UG" sz="18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indent="-650875" algn="just"/>
            <a:r>
              <a:rPr lang="en-US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It then uses the EMI formula to compute the monthly payment and then checks loan eligibility.</a:t>
            </a:r>
          </a:p>
          <a:p>
            <a:pPr marL="263525" indent="0" algn="just">
              <a:buNone/>
            </a:pPr>
            <a:r>
              <a:rPr lang="pt-BR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           EMI = </a:t>
            </a:r>
            <a:r>
              <a:rPr lang="pt-BR" altLang="en-UG" sz="1800" dirty="0">
                <a:solidFill>
                  <a:srgbClr val="00B05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[</a:t>
            </a:r>
            <a:r>
              <a:rPr lang="pt-BR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P x R x (1+R)^N</a:t>
            </a:r>
            <a:r>
              <a:rPr lang="pt-BR" altLang="en-UG" sz="1800" dirty="0">
                <a:solidFill>
                  <a:srgbClr val="00B05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]</a:t>
            </a:r>
            <a:r>
              <a:rPr lang="pt-BR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/ </a:t>
            </a:r>
            <a:r>
              <a:rPr lang="pt-BR" altLang="en-UG" sz="1800" dirty="0">
                <a:solidFill>
                  <a:srgbClr val="00B05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[</a:t>
            </a:r>
            <a:r>
              <a:rPr lang="pt-BR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(1+R)^N - 1</a:t>
            </a:r>
            <a:r>
              <a:rPr lang="pt-BR" altLang="en-UG" sz="1800" dirty="0">
                <a:solidFill>
                  <a:srgbClr val="00B05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]</a:t>
            </a:r>
            <a:endParaRPr lang="en-US" altLang="en-UG" sz="1800" dirty="0">
              <a:solidFill>
                <a:srgbClr val="00B050"/>
              </a:solidFill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indent="-650875" algn="just"/>
            <a:endParaRPr lang="en-US" altLang="en-UG" sz="18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indent="-650875" algn="just"/>
            <a:r>
              <a:rPr lang="en-US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 person is eligible for the loan only if the EMI is less than or equal to 40% of their monthly salary.</a:t>
            </a:r>
          </a:p>
        </p:txBody>
      </p:sp>
      <p:sp>
        <p:nvSpPr>
          <p:cNvPr id="2052" name="Text Box 4">
            <a:extLst>
              <a:ext uri="{FF2B5EF4-FFF2-40B4-BE49-F238E27FC236}">
                <a16:creationId xmlns:a16="http://schemas.microsoft.com/office/drawing/2014/main" id="{4D142AFD-3F5D-3BB4-DFCB-795398648C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025" y="381226"/>
            <a:ext cx="1396536" cy="24191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b" anchorCtr="1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G" sz="189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161158114"/>
      </p:ext>
    </p:extLst>
  </p:cSld>
  <p:clrMapOvr>
    <a:masterClrMapping/>
  </p:clrMapOvr>
  <p:transition spd="med">
    <p:cover dir="u"/>
  </p:transition>
</p:sld>
</file>

<file path=ppt/theme/theme1.xml><?xml version="1.0" encoding="utf-8"?>
<a:theme xmlns:a="http://schemas.openxmlformats.org/drawingml/2006/main" name="2002-04-20">
  <a:themeElements>
    <a:clrScheme name="2002-04-20 8">
      <a:dk1>
        <a:srgbClr val="000000"/>
      </a:dk1>
      <a:lt1>
        <a:srgbClr val="E0EDF0"/>
      </a:lt1>
      <a:dk2>
        <a:srgbClr val="003366"/>
      </a:dk2>
      <a:lt2>
        <a:srgbClr val="808080"/>
      </a:lt2>
      <a:accent1>
        <a:srgbClr val="FFCC00"/>
      </a:accent1>
      <a:accent2>
        <a:srgbClr val="FF0000"/>
      </a:accent2>
      <a:accent3>
        <a:srgbClr val="EDF4F6"/>
      </a:accent3>
      <a:accent4>
        <a:srgbClr val="000000"/>
      </a:accent4>
      <a:accent5>
        <a:srgbClr val="FFE2AA"/>
      </a:accent5>
      <a:accent6>
        <a:srgbClr val="E70000"/>
      </a:accent6>
      <a:hlink>
        <a:srgbClr val="0066CC"/>
      </a:hlink>
      <a:folHlink>
        <a:srgbClr val="008000"/>
      </a:folHlink>
    </a:clrScheme>
    <a:fontScheme name="2002-04-20">
      <a:majorFont>
        <a:latin typeface="Arial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2002-04-20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02-04-20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8">
        <a:dk1>
          <a:srgbClr val="000000"/>
        </a:dk1>
        <a:lt1>
          <a:srgbClr val="E0EDF0"/>
        </a:lt1>
        <a:dk2>
          <a:srgbClr val="003366"/>
        </a:dk2>
        <a:lt2>
          <a:srgbClr val="808080"/>
        </a:lt2>
        <a:accent1>
          <a:srgbClr val="FFCC00"/>
        </a:accent1>
        <a:accent2>
          <a:srgbClr val="FF0000"/>
        </a:accent2>
        <a:accent3>
          <a:srgbClr val="EDF4F6"/>
        </a:accent3>
        <a:accent4>
          <a:srgbClr val="000000"/>
        </a:accent4>
        <a:accent5>
          <a:srgbClr val="FFE2AA"/>
        </a:accent5>
        <a:accent6>
          <a:srgbClr val="E70000"/>
        </a:accent6>
        <a:hlink>
          <a:srgbClr val="0066CC"/>
        </a:hlink>
        <a:folHlink>
          <a:srgbClr val="008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C:\WINDOWS\Application Data\Microsoft\Templates\2002-04-20.pot</Template>
  <TotalTime>503</TotalTime>
  <Words>262</Words>
  <Application>Microsoft Office PowerPoint</Application>
  <PresentationFormat>On-screen Show (4:3)</PresentationFormat>
  <Paragraphs>66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Wingdings</vt:lpstr>
      <vt:lpstr>Arial Narrow</vt:lpstr>
      <vt:lpstr>Times New Roman</vt:lpstr>
      <vt:lpstr>Arial</vt:lpstr>
      <vt:lpstr>2002-04-20</vt:lpstr>
      <vt:lpstr>ADVANCED SYSTEMS PROGRAMING</vt:lpstr>
      <vt:lpstr>Bank Account Management System </vt:lpstr>
      <vt:lpstr>User Authentication, Authorization &amp; Logging</vt:lpstr>
      <vt:lpstr>Actions</vt:lpstr>
      <vt:lpstr>Checks / Controls</vt:lpstr>
      <vt:lpstr>Audit Trail</vt:lpstr>
      <vt:lpstr>Loan Eligibility &amp; EMI Calculator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BUSINESS OF BANKING</dc:title>
  <dc:creator>Ainedembe Denis</dc:creator>
  <cp:lastModifiedBy>Ainedembe Denis</cp:lastModifiedBy>
  <cp:revision>66</cp:revision>
  <dcterms:created xsi:type="dcterms:W3CDTF">2002-04-20T20:58:21Z</dcterms:created>
  <dcterms:modified xsi:type="dcterms:W3CDTF">2026-03-06T10:13:54Z</dcterms:modified>
</cp:coreProperties>
</file>