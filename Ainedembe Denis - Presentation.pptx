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1" r:id="rId1"/>
  </p:sldMasterIdLst>
  <p:notesMasterIdLst>
    <p:notesMasterId r:id="rId35"/>
  </p:notesMasterIdLst>
  <p:handoutMasterIdLst>
    <p:handoutMasterId r:id="rId36"/>
  </p:handoutMasterIdLst>
  <p:sldIdLst>
    <p:sldId id="256" r:id="rId2"/>
    <p:sldId id="293" r:id="rId3"/>
    <p:sldId id="289" r:id="rId4"/>
    <p:sldId id="290" r:id="rId5"/>
    <p:sldId id="288" r:id="rId6"/>
    <p:sldId id="291" r:id="rId7"/>
    <p:sldId id="292" r:id="rId8"/>
    <p:sldId id="294" r:id="rId9"/>
    <p:sldId id="295" r:id="rId10"/>
    <p:sldId id="296" r:id="rId11"/>
    <p:sldId id="297" r:id="rId12"/>
    <p:sldId id="298" r:id="rId13"/>
    <p:sldId id="299" r:id="rId14"/>
    <p:sldId id="300" r:id="rId15"/>
    <p:sldId id="301" r:id="rId16"/>
    <p:sldId id="302" r:id="rId17"/>
    <p:sldId id="303" r:id="rId18"/>
    <p:sldId id="304" r:id="rId19"/>
    <p:sldId id="305" r:id="rId20"/>
    <p:sldId id="306" r:id="rId21"/>
    <p:sldId id="307" r:id="rId22"/>
    <p:sldId id="308" r:id="rId23"/>
    <p:sldId id="309" r:id="rId24"/>
    <p:sldId id="310" r:id="rId25"/>
    <p:sldId id="311" r:id="rId26"/>
    <p:sldId id="312" r:id="rId27"/>
    <p:sldId id="313" r:id="rId28"/>
    <p:sldId id="314" r:id="rId29"/>
    <p:sldId id="315" r:id="rId30"/>
    <p:sldId id="316" r:id="rId31"/>
    <p:sldId id="317" r:id="rId32"/>
    <p:sldId id="318" r:id="rId33"/>
    <p:sldId id="319" r:id="rId34"/>
  </p:sldIdLst>
  <p:sldSz cx="9144000" cy="6858000" type="screen4x3"/>
  <p:notesSz cx="6858000" cy="9144000"/>
  <p:embeddedFontLst>
    <p:embeddedFont>
      <p:font typeface="Arial Narrow" panose="020B0606020202030204" pitchFamily="34" charset="0"/>
      <p:regular r:id="rId37"/>
      <p:bold r:id="rId38"/>
      <p:italic r:id="rId39"/>
      <p:boldItalic r:id="rId40"/>
    </p:embeddedFont>
  </p:embeddedFont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>
          <p15:clr>
            <a:srgbClr val="A4A3A4"/>
          </p15:clr>
        </p15:guide>
        <p15:guide id="2" pos="2880">
          <p15:clr>
            <a:srgbClr val="A4A3A4"/>
          </p15:clr>
        </p15:guide>
        <p15:guide id="3" pos="547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>
      <p:cViewPr varScale="1">
        <p:scale>
          <a:sx n="62" d="100"/>
          <a:sy n="62" d="100"/>
        </p:scale>
        <p:origin x="1288" y="20"/>
      </p:cViewPr>
      <p:guideLst>
        <p:guide orient="horz" pos="1536"/>
        <p:guide pos="2880"/>
        <p:guide pos="54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0" name="Rectangle 2">
            <a:extLst>
              <a:ext uri="{FF2B5EF4-FFF2-40B4-BE49-F238E27FC236}">
                <a16:creationId xmlns:a16="http://schemas.microsoft.com/office/drawing/2014/main" id="{413E0868-A453-BAC1-EDCC-D85849CB700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altLang="en-UG"/>
              <a:t>Banking</a:t>
            </a:r>
          </a:p>
        </p:txBody>
      </p:sp>
      <p:sp>
        <p:nvSpPr>
          <p:cNvPr id="83971" name="Rectangle 3">
            <a:extLst>
              <a:ext uri="{FF2B5EF4-FFF2-40B4-BE49-F238E27FC236}">
                <a16:creationId xmlns:a16="http://schemas.microsoft.com/office/drawing/2014/main" id="{2ED835EB-BA0C-574F-1E70-8F70F788536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1CE781C4-521A-45E9-A784-B690473DD751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83972" name="Rectangle 4">
            <a:extLst>
              <a:ext uri="{FF2B5EF4-FFF2-40B4-BE49-F238E27FC236}">
                <a16:creationId xmlns:a16="http://schemas.microsoft.com/office/drawing/2014/main" id="{B4642420-C0AE-AD21-31FA-B8FE427DD85E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altLang="en-UG"/>
              <a:t>Chapter 1</a:t>
            </a:r>
          </a:p>
        </p:txBody>
      </p:sp>
      <p:sp>
        <p:nvSpPr>
          <p:cNvPr id="83973" name="Rectangle 5">
            <a:extLst>
              <a:ext uri="{FF2B5EF4-FFF2-40B4-BE49-F238E27FC236}">
                <a16:creationId xmlns:a16="http://schemas.microsoft.com/office/drawing/2014/main" id="{3515F3F5-C9C2-600F-68E0-A0F81777943A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686AE93-C4BB-436D-ABCE-F9966A1C8FEC}" type="slidenum">
              <a:rPr lang="en-US" altLang="en-UG"/>
              <a:pPr/>
              <a:t>‹#›</a:t>
            </a:fld>
            <a:endParaRPr lang="en-US" altLang="en-UG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30" name="Rectangle 2">
            <a:extLst>
              <a:ext uri="{FF2B5EF4-FFF2-40B4-BE49-F238E27FC236}">
                <a16:creationId xmlns:a16="http://schemas.microsoft.com/office/drawing/2014/main" id="{3CCC52EE-066C-B81B-41E6-16A3771132C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altLang="en-UG"/>
              <a:t>Banking</a:t>
            </a:r>
          </a:p>
        </p:txBody>
      </p:sp>
      <p:sp>
        <p:nvSpPr>
          <p:cNvPr id="73731" name="Rectangle 3">
            <a:extLst>
              <a:ext uri="{FF2B5EF4-FFF2-40B4-BE49-F238E27FC236}">
                <a16:creationId xmlns:a16="http://schemas.microsoft.com/office/drawing/2014/main" id="{9BDA948E-D31F-D4C7-08AD-4A265F07C04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F8D15F8F-DE68-4220-8EBC-E74FA7986C26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73732" name="Rectangle 4">
            <a:extLst>
              <a:ext uri="{FF2B5EF4-FFF2-40B4-BE49-F238E27FC236}">
                <a16:creationId xmlns:a16="http://schemas.microsoft.com/office/drawing/2014/main" id="{2D5E33B9-0A75-4BFD-A204-D27552273D38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73733" name="Rectangle 5">
            <a:extLst>
              <a:ext uri="{FF2B5EF4-FFF2-40B4-BE49-F238E27FC236}">
                <a16:creationId xmlns:a16="http://schemas.microsoft.com/office/drawing/2014/main" id="{D9A958B1-7D9A-CD11-5310-7F936F7449E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G"/>
              <a:t>Click to edit Master text styles</a:t>
            </a:r>
          </a:p>
          <a:p>
            <a:pPr lvl="1"/>
            <a:r>
              <a:rPr lang="en-US" altLang="en-UG"/>
              <a:t>Second level</a:t>
            </a:r>
          </a:p>
          <a:p>
            <a:pPr lvl="2"/>
            <a:r>
              <a:rPr lang="en-US" altLang="en-UG"/>
              <a:t>Third level</a:t>
            </a:r>
          </a:p>
          <a:p>
            <a:pPr lvl="3"/>
            <a:r>
              <a:rPr lang="en-US" altLang="en-UG"/>
              <a:t>Fourth level</a:t>
            </a:r>
          </a:p>
          <a:p>
            <a:pPr lvl="4"/>
            <a:r>
              <a:rPr lang="en-US" altLang="en-UG"/>
              <a:t>Fifth level</a:t>
            </a:r>
          </a:p>
        </p:txBody>
      </p:sp>
      <p:sp>
        <p:nvSpPr>
          <p:cNvPr id="73734" name="Rectangle 6">
            <a:extLst>
              <a:ext uri="{FF2B5EF4-FFF2-40B4-BE49-F238E27FC236}">
                <a16:creationId xmlns:a16="http://schemas.microsoft.com/office/drawing/2014/main" id="{D4F844F5-6121-9DC2-B1B8-24D7D99050C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r>
              <a:rPr lang="en-US" altLang="en-UG"/>
              <a:t>Chapter 1</a:t>
            </a:r>
          </a:p>
        </p:txBody>
      </p:sp>
      <p:sp>
        <p:nvSpPr>
          <p:cNvPr id="73735" name="Rectangle 7">
            <a:extLst>
              <a:ext uri="{FF2B5EF4-FFF2-40B4-BE49-F238E27FC236}">
                <a16:creationId xmlns:a16="http://schemas.microsoft.com/office/drawing/2014/main" id="{25864901-87E7-71F6-C571-2815F1BF524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AA3A2244-17CF-45DB-8ECC-DAEF44590331}" type="slidenum">
              <a:rPr lang="en-US" altLang="en-UG"/>
              <a:pPr/>
              <a:t>‹#›</a:t>
            </a:fld>
            <a:endParaRPr lang="en-US" altLang="en-UG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FF57CF28-47FC-6DE7-A134-6FDA5DE61818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7B43E225-052B-FD38-872F-636DC95DF20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BA3444CE-B626-7115-7960-0CF5A4BAA0D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021AAC4-A1F9-ECFE-436E-22A50355FD6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1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33E57386-0348-7653-07B6-DEC707F95F1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915AFCAD-A3B9-5FEB-82F2-7259C711A74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05851-E682-2844-4FF5-8317DD99D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D74B0A2D-E979-D76A-1311-A2918F06D99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84C48349-12EC-B298-301D-4A6D82CA561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B70F0DCB-52CB-9907-8270-891443F0A85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ADB602DA-CD22-C582-1CCB-8D8BAD1B486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2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C824B0A3-843B-FC37-6B24-B38B6CFC67B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9C5A7813-AAAE-B3BC-CA26-CC034BBDBFF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  <p:extLst>
      <p:ext uri="{BB962C8B-B14F-4D97-AF65-F5344CB8AC3E}">
        <p14:creationId xmlns:p14="http://schemas.microsoft.com/office/powerpoint/2010/main" val="27209586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308F6-F326-445A-8000-18129BD16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6116CD31-FE1E-99A8-EB49-33E3E7ECCA4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20B37BEB-18D2-6B45-B071-C605C6ED0ED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A1CAADA2-8AFA-3BD8-F8C1-72B42FB2E9B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E5AD18CD-F7F0-1389-B6AD-6CA739DE45C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7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9D8294E7-81EE-0E96-0A27-B3896486EF7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7FE6DCB7-A53B-C1E1-CB33-396CA4D7672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  <p:extLst>
      <p:ext uri="{BB962C8B-B14F-4D97-AF65-F5344CB8AC3E}">
        <p14:creationId xmlns:p14="http://schemas.microsoft.com/office/powerpoint/2010/main" val="869399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D1196-FDBA-7BE5-4E25-1F3F98F44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91B3E364-0FE7-5319-1F98-745F4D677552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09AC53F-FFF3-F5C3-F357-9F45459A2754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5DE6C1FB-6F94-3FB9-270B-DE84DAC7305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421F8A9F-588A-EFB6-85D1-AA1BB03F916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9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154C2BB6-AAF3-CC7C-97A8-EF6B5189FE88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F104AEE5-6FD3-3EC4-C7E4-A960A565186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  <p:extLst>
      <p:ext uri="{BB962C8B-B14F-4D97-AF65-F5344CB8AC3E}">
        <p14:creationId xmlns:p14="http://schemas.microsoft.com/office/powerpoint/2010/main" val="557002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194A58-0111-2C23-1EAD-4BD628FD4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CF82DA28-005F-7618-4294-A70CD07884B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C6FBCFC-5053-0DB4-FF31-89A89F3ED42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6D65E293-285F-41AA-D1BD-BA17215E7C49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DF44CC34-D879-31DF-2B1E-37023B2C5E0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12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BF32723E-C372-0B4A-27B9-B283DDFBC1F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DA9F1E23-FF59-CC04-D1F8-C9246414925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  <p:extLst>
      <p:ext uri="{BB962C8B-B14F-4D97-AF65-F5344CB8AC3E}">
        <p14:creationId xmlns:p14="http://schemas.microsoft.com/office/powerpoint/2010/main" val="29295606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036B9-D8B5-F48A-6786-1D5267825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71D7F6E4-3D83-0070-A487-41070252C70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C9AACB2-8AC0-EAF7-F739-5364A95F5AAA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A89E0DF-1296-C566-361B-E30F877AD54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FFC47DE4-1FC1-3EBF-44C2-74B540D2871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16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407F2C16-6444-1330-F65C-CBFA98E7BC2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35485B0F-0E02-0442-75BC-E34FFEFAF6C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  <p:extLst>
      <p:ext uri="{BB962C8B-B14F-4D97-AF65-F5344CB8AC3E}">
        <p14:creationId xmlns:p14="http://schemas.microsoft.com/office/powerpoint/2010/main" val="241533470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C53B5-F26A-3046-7FC2-C85CE3ED2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35D4085E-EC0D-3471-7331-CA0C9A29FDD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6534B8A9-7DC4-228F-416B-EFED1816F495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CF27B491-0991-B1CC-E0B0-139542ECD88D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C370E64B-F40B-A2E5-6BBE-28E659A40AE1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22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445CF994-D694-1FCB-2E72-9250FB689EC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242E4D2D-C56B-5B3E-EBD0-DE2EB61801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  <p:extLst>
      <p:ext uri="{BB962C8B-B14F-4D97-AF65-F5344CB8AC3E}">
        <p14:creationId xmlns:p14="http://schemas.microsoft.com/office/powerpoint/2010/main" val="37002845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D3C83-CC54-49C6-646D-B6F6294D8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857C26E8-C8A7-43A5-0096-25DE156B2239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5C54E125-EE28-9A49-7BBA-6172458991C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E8AD13F-04D2-201A-91D6-9DF8BDB4DC52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1B5334-049D-ABA0-E4F3-88382F2B752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27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DFC9B70E-E27E-A8E9-2D6B-DE2A2AB512C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3A953617-91EE-28B2-78B4-C6E4A131A20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  <p:extLst>
      <p:ext uri="{BB962C8B-B14F-4D97-AF65-F5344CB8AC3E}">
        <p14:creationId xmlns:p14="http://schemas.microsoft.com/office/powerpoint/2010/main" val="15315398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EF1BF1-A733-6610-A893-D65217EA4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D06B9C35-53B0-CF36-48B5-C3952065686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>
          <a:ln/>
        </p:spPr>
        <p:txBody>
          <a:bodyPr/>
          <a:lstStyle/>
          <a:p>
            <a:r>
              <a:rPr lang="en-US" altLang="en-UG"/>
              <a:t>Banking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0308BA6D-C7CC-CF5B-49D5-20973E5D8138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>
          <a:ln/>
        </p:spPr>
        <p:txBody>
          <a:bodyPr/>
          <a:lstStyle/>
          <a:p>
            <a:fld id="{BE404601-5409-4916-ACC5-631589FF7894}" type="datetime1">
              <a:rPr lang="en-US" altLang="en-UG"/>
              <a:pPr/>
              <a:t>3/6/2026</a:t>
            </a:fld>
            <a:endParaRPr lang="en-US" altLang="en-UG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1CFF05D9-232B-AD97-2C59-EE76EC9A6AA4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>
          <a:ln/>
        </p:spPr>
        <p:txBody>
          <a:bodyPr/>
          <a:lstStyle/>
          <a:p>
            <a:r>
              <a:rPr lang="en-US" altLang="en-UG"/>
              <a:t>Chapter 1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59FBC078-3418-2543-5C99-77DFCADAFECA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4506DE0-9EBE-410A-BF0A-89AC4ED81072}" type="slidenum">
              <a:rPr lang="en-US" altLang="en-UG"/>
              <a:pPr/>
              <a:t>30</a:t>
            </a:fld>
            <a:endParaRPr lang="en-US" altLang="en-UG"/>
          </a:p>
        </p:txBody>
      </p:sp>
      <p:sp>
        <p:nvSpPr>
          <p:cNvPr id="84994" name="Rectangle 2">
            <a:extLst>
              <a:ext uri="{FF2B5EF4-FFF2-40B4-BE49-F238E27FC236}">
                <a16:creationId xmlns:a16="http://schemas.microsoft.com/office/drawing/2014/main" id="{B1EA9731-9D87-F88B-51DF-1C704C0F5F0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5" name="Rectangle 3">
            <a:extLst>
              <a:ext uri="{FF2B5EF4-FFF2-40B4-BE49-F238E27FC236}">
                <a16:creationId xmlns:a16="http://schemas.microsoft.com/office/drawing/2014/main" id="{CD3978BB-E7BC-98C0-823F-B5186C99523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G" altLang="en-UG"/>
          </a:p>
        </p:txBody>
      </p:sp>
    </p:spTree>
    <p:extLst>
      <p:ext uri="{BB962C8B-B14F-4D97-AF65-F5344CB8AC3E}">
        <p14:creationId xmlns:p14="http://schemas.microsoft.com/office/powerpoint/2010/main" val="27526582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2" name="Rectangle 2">
            <a:extLst>
              <a:ext uri="{FF2B5EF4-FFF2-40B4-BE49-F238E27FC236}">
                <a16:creationId xmlns:a16="http://schemas.microsoft.com/office/drawing/2014/main" id="{B352014D-6DC8-28C7-79D7-14B3CC645F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97625"/>
            <a:ext cx="91440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r"/>
            <a:r>
              <a:rPr lang="en-US" altLang="en-UG" sz="1800" dirty="0">
                <a:solidFill>
                  <a:srgbClr val="E0EDF0"/>
                </a:solidFill>
                <a:latin typeface="Arial Narrow" panose="020B0606020202030204" pitchFamily="34" charset="0"/>
              </a:rPr>
              <a:t>© Ainedembe Denis</a:t>
            </a:r>
          </a:p>
        </p:txBody>
      </p:sp>
      <p:sp>
        <p:nvSpPr>
          <p:cNvPr id="81923" name="Rectangle 3">
            <a:extLst>
              <a:ext uri="{FF2B5EF4-FFF2-40B4-BE49-F238E27FC236}">
                <a16:creationId xmlns:a16="http://schemas.microsoft.com/office/drawing/2014/main" id="{59D7F9BA-8958-A1D2-9CA9-DE6D04E65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209800"/>
            <a:ext cx="2011363" cy="4570413"/>
          </a:xfrm>
          <a:prstGeom prst="rect">
            <a:avLst/>
          </a:prstGeom>
          <a:solidFill>
            <a:srgbClr val="FFCC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/>
            <a:endParaRPr lang="en-UG" altLang="en-UG"/>
          </a:p>
        </p:txBody>
      </p:sp>
      <p:sp>
        <p:nvSpPr>
          <p:cNvPr id="81924" name="Rectangle 4">
            <a:extLst>
              <a:ext uri="{FF2B5EF4-FFF2-40B4-BE49-F238E27FC236}">
                <a16:creationId xmlns:a16="http://schemas.microsoft.com/office/drawing/2014/main" id="{B6768F74-6C4B-19D1-AAC6-25ECA9B003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7772400" cy="2743200"/>
          </a:xfrm>
          <a:prstGeom prst="rect">
            <a:avLst/>
          </a:prstGeom>
          <a:gradFill rotWithShape="0">
            <a:gsLst>
              <a:gs pos="0">
                <a:srgbClr val="0066CC"/>
              </a:gs>
              <a:gs pos="100000">
                <a:srgbClr val="E0EDF0"/>
              </a:gs>
            </a:gsLst>
            <a:lin ang="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G"/>
          </a:p>
        </p:txBody>
      </p:sp>
      <p:sp>
        <p:nvSpPr>
          <p:cNvPr id="81925" name="Rectangle 5">
            <a:extLst>
              <a:ext uri="{FF2B5EF4-FFF2-40B4-BE49-F238E27FC236}">
                <a16:creationId xmlns:a16="http://schemas.microsoft.com/office/drawing/2014/main" id="{3A913B70-44BD-F837-C183-B9E6CCEB2733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1981200" y="152400"/>
            <a:ext cx="6399213" cy="2422525"/>
          </a:xfr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anchor="b"/>
          <a:lstStyle>
            <a:lvl1pPr>
              <a:defRPr sz="4400">
                <a:solidFill>
                  <a:schemeClr val="tx1"/>
                </a:solidFill>
                <a:effectLst/>
              </a:defRPr>
            </a:lvl1pPr>
          </a:lstStyle>
          <a:p>
            <a:pPr lvl="0"/>
            <a:r>
              <a:rPr lang="en-US" altLang="en-UG" noProof="0"/>
              <a:t>CLICK TO EDIT MASTER TITLE STYLE</a:t>
            </a:r>
          </a:p>
        </p:txBody>
      </p:sp>
      <p:sp>
        <p:nvSpPr>
          <p:cNvPr id="81926" name="Rectangle 6">
            <a:extLst>
              <a:ext uri="{FF2B5EF4-FFF2-40B4-BE49-F238E27FC236}">
                <a16:creationId xmlns:a16="http://schemas.microsoft.com/office/drawing/2014/main" id="{74647E21-3EDE-893F-4F0E-C46A5372A4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143000" y="3017838"/>
            <a:ext cx="7542213" cy="3382962"/>
          </a:xfrm>
        </p:spPr>
        <p:txBody>
          <a:bodyPr/>
          <a:lstStyle>
            <a:lvl1pPr marL="914400" indent="-914400">
              <a:buSzPct val="125000"/>
              <a:defRPr/>
            </a:lvl1pPr>
          </a:lstStyle>
          <a:p>
            <a:pPr lvl="0"/>
            <a:r>
              <a:rPr lang="en-US" altLang="en-UG" noProof="0" dirty="0"/>
              <a:t>Click to edit Master subtitle style</a:t>
            </a:r>
          </a:p>
        </p:txBody>
      </p:sp>
      <p:sp>
        <p:nvSpPr>
          <p:cNvPr id="81927" name="Rectangle 7">
            <a:extLst>
              <a:ext uri="{FF2B5EF4-FFF2-40B4-BE49-F238E27FC236}">
                <a16:creationId xmlns:a16="http://schemas.microsoft.com/office/drawing/2014/main" id="{EB5CA637-4E71-42C7-F711-59158B287669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>
            <a:lvl1pPr>
              <a:defRPr sz="1800"/>
            </a:lvl1pPr>
          </a:lstStyle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E9713479-D2C5-48C2-AEF2-300D23B2E6DD}" type="slidenum">
              <a:rPr lang="en-US" altLang="en-UG" smtClean="0"/>
              <a:pPr/>
              <a:t>‹#›</a:t>
            </a:fld>
            <a:endParaRPr lang="en-US" altLang="en-UG" sz="1800" dirty="0"/>
          </a:p>
        </p:txBody>
      </p:sp>
      <p:grpSp>
        <p:nvGrpSpPr>
          <p:cNvPr id="81928" name="Group 8">
            <a:extLst>
              <a:ext uri="{FF2B5EF4-FFF2-40B4-BE49-F238E27FC236}">
                <a16:creationId xmlns:a16="http://schemas.microsoft.com/office/drawing/2014/main" id="{3197CFB6-5C1F-0952-2A9B-C71DD9A547EE}"/>
              </a:ext>
            </a:extLst>
          </p:cNvPr>
          <p:cNvGrpSpPr>
            <a:grpSpLocks/>
          </p:cNvGrpSpPr>
          <p:nvPr/>
        </p:nvGrpSpPr>
        <p:grpSpPr bwMode="auto">
          <a:xfrm>
            <a:off x="5867400" y="304800"/>
            <a:ext cx="3078163" cy="182563"/>
            <a:chOff x="3696" y="192"/>
            <a:chExt cx="1939" cy="115"/>
          </a:xfrm>
        </p:grpSpPr>
        <p:sp>
          <p:nvSpPr>
            <p:cNvPr id="81929" name="Oval 9">
              <a:extLst>
                <a:ext uri="{FF2B5EF4-FFF2-40B4-BE49-F238E27FC236}">
                  <a16:creationId xmlns:a16="http://schemas.microsoft.com/office/drawing/2014/main" id="{75EC4EF0-7A0D-12EA-FD34-9A04CFF7A1AF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3696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0" name="Oval 10">
              <a:extLst>
                <a:ext uri="{FF2B5EF4-FFF2-40B4-BE49-F238E27FC236}">
                  <a16:creationId xmlns:a16="http://schemas.microsoft.com/office/drawing/2014/main" id="{028F0865-11DD-9C4B-FE1A-99B864C9687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4000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1" name="Oval 11">
              <a:extLst>
                <a:ext uri="{FF2B5EF4-FFF2-40B4-BE49-F238E27FC236}">
                  <a16:creationId xmlns:a16="http://schemas.microsoft.com/office/drawing/2014/main" id="{64AAC666-DA55-26A1-40F2-D60429C5482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4304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2" name="Oval 12">
              <a:extLst>
                <a:ext uri="{FF2B5EF4-FFF2-40B4-BE49-F238E27FC236}">
                  <a16:creationId xmlns:a16="http://schemas.microsoft.com/office/drawing/2014/main" id="{954C28E5-928B-3F61-5410-497E36C7E1F5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4608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3" name="Oval 13">
              <a:extLst>
                <a:ext uri="{FF2B5EF4-FFF2-40B4-BE49-F238E27FC236}">
                  <a16:creationId xmlns:a16="http://schemas.microsoft.com/office/drawing/2014/main" id="{B90B39B9-1EFC-458C-6845-7222136B689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4912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4" name="Oval 14">
              <a:extLst>
                <a:ext uri="{FF2B5EF4-FFF2-40B4-BE49-F238E27FC236}">
                  <a16:creationId xmlns:a16="http://schemas.microsoft.com/office/drawing/2014/main" id="{E27F702D-6196-51DA-8923-37FC8CD744BD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216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  <p:sp>
          <p:nvSpPr>
            <p:cNvPr id="81935" name="Oval 15">
              <a:extLst>
                <a:ext uri="{FF2B5EF4-FFF2-40B4-BE49-F238E27FC236}">
                  <a16:creationId xmlns:a16="http://schemas.microsoft.com/office/drawing/2014/main" id="{187251F4-EDF4-16BD-AD6D-EF3B18F6E922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5520" y="192"/>
              <a:ext cx="115" cy="115"/>
            </a:xfrm>
            <a:prstGeom prst="ellipse">
              <a:avLst/>
            </a:prstGeom>
            <a:solidFill>
              <a:srgbClr val="008000"/>
            </a:solidFill>
            <a:ln w="9525">
              <a:solidFill>
                <a:srgbClr val="008000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G"/>
            </a:p>
          </p:txBody>
        </p:sp>
      </p:grpSp>
    </p:spTree>
  </p:cSld>
  <p:clrMapOvr>
    <a:masterClrMapping/>
  </p:clrMapOvr>
  <p:transition spd="med">
    <p:cover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263A1-B477-8F53-3DED-C589AAFAFF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G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E52915C-F051-A24E-E5D0-B309C60ED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altLang="en-U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5FC96C-152A-13D9-4A47-F6A98401A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altLang="en-U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796E1E-FEA7-3C2E-3FD7-753A4007C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23AB89C-1184-422F-A25B-A3C3FCC3E457}" type="slidenum">
              <a:rPr lang="en-US" altLang="en-UG" smtClean="0"/>
              <a:pPr/>
              <a:t>‹#›</a:t>
            </a:fld>
            <a:endParaRPr lang="en-US" altLang="en-UG" sz="1800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73735E7B-2EC1-2B87-7F59-98F83AE5D4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</p:spTree>
    <p:extLst>
      <p:ext uri="{BB962C8B-B14F-4D97-AF65-F5344CB8AC3E}">
        <p14:creationId xmlns:p14="http://schemas.microsoft.com/office/powerpoint/2010/main" val="4203634136"/>
      </p:ext>
    </p:extLst>
  </p:cSld>
  <p:clrMapOvr>
    <a:masterClrMapping/>
  </p:clrMapOvr>
  <p:transition spd="med">
    <p:cover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514E6F-C4C8-54D5-F1C7-3F6D024AD5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8CD6A2-DD6B-43F8-2A94-C81822A6A1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3E4D9A-56FA-F87E-DDBF-B5FAE2779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B34355-E807-F8C1-D102-0CB40C3B5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49EBE-D6F8-E816-1865-A73F1FE83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41FDE60B-41D3-4066-92AC-8665FF8CB5B0}" type="slidenum">
              <a:rPr lang="en-US" altLang="en-UG" smtClean="0"/>
              <a:pPr/>
              <a:t>‹#›</a:t>
            </a:fld>
            <a:endParaRPr lang="en-US" altLang="en-UG" sz="1800" dirty="0"/>
          </a:p>
        </p:txBody>
      </p:sp>
    </p:spTree>
    <p:extLst>
      <p:ext uri="{BB962C8B-B14F-4D97-AF65-F5344CB8AC3E}">
        <p14:creationId xmlns:p14="http://schemas.microsoft.com/office/powerpoint/2010/main" val="1645011376"/>
      </p:ext>
    </p:extLst>
  </p:cSld>
  <p:clrMapOvr>
    <a:masterClrMapping/>
  </p:clrMapOvr>
  <p:transition spd="med">
    <p:cover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80DEB-D353-268D-9847-9D1A2607E5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5CC027-372C-B540-5DE6-3ACAF517AD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10000" cy="4570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FB5842D-B0B9-0E78-3313-1D962C1364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3810000" cy="45704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D19074-6D68-F76F-E174-20387F7BD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376494-9176-2BF1-6415-A4E6A19671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19329-C8EC-9981-6BCC-D5D220A7C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CE7537B9-0BA9-4794-9A26-262DC9F881AD}" type="slidenum">
              <a:rPr lang="en-US" altLang="en-UG" smtClean="0"/>
              <a:pPr/>
              <a:t>‹#›</a:t>
            </a:fld>
            <a:endParaRPr lang="en-US" altLang="en-UG" sz="1800" dirty="0"/>
          </a:p>
        </p:txBody>
      </p:sp>
    </p:spTree>
    <p:extLst>
      <p:ext uri="{BB962C8B-B14F-4D97-AF65-F5344CB8AC3E}">
        <p14:creationId xmlns:p14="http://schemas.microsoft.com/office/powerpoint/2010/main" val="4202081212"/>
      </p:ext>
    </p:extLst>
  </p:cSld>
  <p:clrMapOvr>
    <a:masterClrMapping/>
  </p:clrMapOvr>
  <p:transition spd="med">
    <p:cover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F024-CC2F-813E-4EF8-6FA711231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1EE5F-4F93-B93F-E2CB-7DAD183D96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C0A393-79F8-059E-1F7A-ED6AA5F423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AF9D57-FA59-8D1E-F394-B67664F913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4C64FA-87EE-8103-519C-D7E675C0D0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0BC7D0-F537-01A3-FE78-E3768E078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7EDADE8-5C6B-5CFC-688D-070799186E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D036D9-EA12-B6FC-8A4F-D37ED732E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F9D66D36-0F71-425A-B9F3-818A01125D51}" type="slidenum">
              <a:rPr lang="en-US" altLang="en-UG" smtClean="0"/>
              <a:pPr/>
              <a:t>‹#›</a:t>
            </a:fld>
            <a:endParaRPr lang="en-US" altLang="en-UG" sz="1800" dirty="0"/>
          </a:p>
        </p:txBody>
      </p:sp>
    </p:spTree>
    <p:extLst>
      <p:ext uri="{BB962C8B-B14F-4D97-AF65-F5344CB8AC3E}">
        <p14:creationId xmlns:p14="http://schemas.microsoft.com/office/powerpoint/2010/main" val="216261472"/>
      </p:ext>
    </p:extLst>
  </p:cSld>
  <p:clrMapOvr>
    <a:masterClrMapping/>
  </p:clrMapOvr>
  <p:transition spd="med">
    <p:cover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D8C3-C520-86AC-B7C1-99F2FE809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393B404-0133-FD1F-BCBD-FCE806314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DC3EAC-B9A8-D08D-D6B6-6DED04208F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8962154-77D5-4237-1283-CB9A865A7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FD9CE47C-F90A-4653-9AF7-B918EDBB8A77}" type="slidenum">
              <a:rPr lang="en-US" altLang="en-UG" smtClean="0"/>
              <a:pPr/>
              <a:t>‹#›</a:t>
            </a:fld>
            <a:endParaRPr lang="en-US" altLang="en-UG" sz="1800" dirty="0"/>
          </a:p>
        </p:txBody>
      </p:sp>
    </p:spTree>
    <p:extLst>
      <p:ext uri="{BB962C8B-B14F-4D97-AF65-F5344CB8AC3E}">
        <p14:creationId xmlns:p14="http://schemas.microsoft.com/office/powerpoint/2010/main" val="803087271"/>
      </p:ext>
    </p:extLst>
  </p:cSld>
  <p:clrMapOvr>
    <a:masterClrMapping/>
  </p:clrMapOvr>
  <p:transition spd="med">
    <p:cover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A890F3-19A4-8C89-B3A2-4B26926E00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A3B9F2-5A88-05A9-84EC-2F53D467B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41AD77-8F4B-BB98-9E6A-1BC5E0A8A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D32CA754-6AA2-4E16-AB0A-63CCF004AE45}" type="slidenum">
              <a:rPr lang="en-US" altLang="en-UG" smtClean="0"/>
              <a:pPr/>
              <a:t>‹#›</a:t>
            </a:fld>
            <a:endParaRPr lang="en-US" altLang="en-UG" sz="1800" dirty="0"/>
          </a:p>
        </p:txBody>
      </p:sp>
    </p:spTree>
    <p:extLst>
      <p:ext uri="{BB962C8B-B14F-4D97-AF65-F5344CB8AC3E}">
        <p14:creationId xmlns:p14="http://schemas.microsoft.com/office/powerpoint/2010/main" val="812406830"/>
      </p:ext>
    </p:extLst>
  </p:cSld>
  <p:clrMapOvr>
    <a:masterClrMapping/>
  </p:clrMapOvr>
  <p:transition spd="med">
    <p:cover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BB709-B4FC-BD5A-EEDA-25AF931F7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A8A115-CFEC-B422-D84B-1B21A84D1A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8DAC05-BD50-2EAE-4247-7FE9FEE4FC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013941-C7AA-3374-6043-739D63445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47799-6E7D-2788-3756-6AB78349D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A1B70B-AAD7-744C-D8AE-D264D2DCF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92DDF584-C563-4AF3-9C85-74AE268379EC}" type="slidenum">
              <a:rPr lang="en-US" altLang="en-UG" smtClean="0"/>
              <a:pPr/>
              <a:t>‹#›</a:t>
            </a:fld>
            <a:endParaRPr lang="en-US" altLang="en-UG" sz="1800" dirty="0"/>
          </a:p>
        </p:txBody>
      </p:sp>
    </p:spTree>
    <p:extLst>
      <p:ext uri="{BB962C8B-B14F-4D97-AF65-F5344CB8AC3E}">
        <p14:creationId xmlns:p14="http://schemas.microsoft.com/office/powerpoint/2010/main" val="1669154459"/>
      </p:ext>
    </p:extLst>
  </p:cSld>
  <p:clrMapOvr>
    <a:masterClrMapping/>
  </p:clrMapOvr>
  <p:transition spd="med">
    <p:cover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43DA78-5643-5201-C9A3-67173A42E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AEADD1-A981-652F-2E3F-23DF0C9CCD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9F367-EDD6-9710-0004-F8281B4C37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74D70C-8EAD-A3F2-9A46-BCC6E0421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9757D-078C-DCE8-4D38-B7B59BE8C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0D770C-9D69-C42A-D2FE-C53191FB7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F8DE97C-F3F8-4995-ABC1-945329C93974}" type="slidenum">
              <a:rPr lang="en-US" altLang="en-UG" smtClean="0"/>
              <a:pPr/>
              <a:t>‹#›</a:t>
            </a:fld>
            <a:endParaRPr lang="en-US" altLang="en-UG" sz="1800" dirty="0"/>
          </a:p>
        </p:txBody>
      </p:sp>
    </p:spTree>
    <p:extLst>
      <p:ext uri="{BB962C8B-B14F-4D97-AF65-F5344CB8AC3E}">
        <p14:creationId xmlns:p14="http://schemas.microsoft.com/office/powerpoint/2010/main" val="3549515415"/>
      </p:ext>
    </p:extLst>
  </p:cSld>
  <p:clrMapOvr>
    <a:masterClrMapping/>
  </p:clrMapOvr>
  <p:transition spd="med">
    <p:cover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30DAD-9D4A-CA7A-3FB1-051039CB7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51FFC-6540-837C-7D9B-3C1B947738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265B4-2B28-2FF4-1E52-C2E15FD97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1E71E-2C53-DF35-CF54-9161823C7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B4568-6B3A-75D9-4C3B-8A58A0D54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C4BC210-7EA5-4C0F-AD45-5AE9BB47700C}" type="slidenum">
              <a:rPr lang="en-US" altLang="en-UG" smtClean="0"/>
              <a:pPr/>
              <a:t>‹#›</a:t>
            </a:fld>
            <a:endParaRPr lang="en-US" altLang="en-UG" sz="1800" dirty="0"/>
          </a:p>
        </p:txBody>
      </p:sp>
    </p:spTree>
    <p:extLst>
      <p:ext uri="{BB962C8B-B14F-4D97-AF65-F5344CB8AC3E}">
        <p14:creationId xmlns:p14="http://schemas.microsoft.com/office/powerpoint/2010/main" val="1449404267"/>
      </p:ext>
    </p:extLst>
  </p:cSld>
  <p:clrMapOvr>
    <a:masterClrMapping/>
  </p:clrMapOvr>
  <p:transition spd="med">
    <p:cover dir="u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A5F669-A345-2AD2-A96E-AE62530234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740525" y="457200"/>
            <a:ext cx="2170113" cy="571341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2ADD31-025E-FC62-BA1C-44D5A7FEC9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27013" y="457200"/>
            <a:ext cx="6361112" cy="571341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199163-EE44-6E4B-24CD-63247079DB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7FC43-74F8-EECA-49E0-A8E3FD165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en-U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3AC50E-52C1-3A08-4BD8-AF457C355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800"/>
            </a:lvl1pPr>
          </a:lstStyle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82EEFDC-B650-41B7-9366-DE22AEB01362}" type="slidenum">
              <a:rPr lang="en-US" altLang="en-UG" smtClean="0"/>
              <a:pPr/>
              <a:t>‹#›</a:t>
            </a:fld>
            <a:endParaRPr lang="en-US" altLang="en-UG" sz="1800" dirty="0"/>
          </a:p>
        </p:txBody>
      </p:sp>
    </p:spTree>
    <p:extLst>
      <p:ext uri="{BB962C8B-B14F-4D97-AF65-F5344CB8AC3E}">
        <p14:creationId xmlns:p14="http://schemas.microsoft.com/office/powerpoint/2010/main" val="314157448"/>
      </p:ext>
    </p:extLst>
  </p:cSld>
  <p:clrMapOvr>
    <a:masterClrMapping/>
  </p:clrMapOvr>
  <p:transition spd="med">
    <p:cover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0ED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2">
            <a:extLst>
              <a:ext uri="{FF2B5EF4-FFF2-40B4-BE49-F238E27FC236}">
                <a16:creationId xmlns:a16="http://schemas.microsoft.com/office/drawing/2014/main" id="{27514279-1D69-D82A-37E3-DCCDD7EB85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011363" cy="6553200"/>
          </a:xfrm>
          <a:prstGeom prst="rect">
            <a:avLst/>
          </a:prstGeom>
          <a:gradFill rotWithShape="0">
            <a:gsLst>
              <a:gs pos="0">
                <a:srgbClr val="E0EDF0"/>
              </a:gs>
              <a:gs pos="100000">
                <a:schemeClr val="accent1"/>
              </a:gs>
            </a:gsLst>
            <a:lin ang="5400000" scaled="1"/>
          </a:gra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G"/>
          </a:p>
        </p:txBody>
      </p:sp>
      <p:sp>
        <p:nvSpPr>
          <p:cNvPr id="80899" name="Rectangle 3">
            <a:extLst>
              <a:ext uri="{FF2B5EF4-FFF2-40B4-BE49-F238E27FC236}">
                <a16:creationId xmlns:a16="http://schemas.microsoft.com/office/drawing/2014/main" id="{86D805D8-7BBD-9079-7198-EDE168BCEF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227013" y="457200"/>
            <a:ext cx="8683625" cy="685800"/>
          </a:xfrm>
          <a:prstGeom prst="rect">
            <a:avLst/>
          </a:prstGeom>
          <a:solidFill>
            <a:srgbClr val="008000"/>
          </a:solidFill>
          <a:ln>
            <a:noFill/>
          </a:ln>
          <a:effectLst>
            <a:outerShdw dist="107763" dir="2700000" algn="ctr" rotWithShape="0">
              <a:schemeClr val="bg2"/>
            </a:outerShdw>
          </a:effectLst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G"/>
              <a:t>CLICK TO EDIT MASTER TITLE STYLE</a:t>
            </a:r>
          </a:p>
        </p:txBody>
      </p:sp>
      <p:sp>
        <p:nvSpPr>
          <p:cNvPr id="80900" name="Rectangle 4">
            <a:extLst>
              <a:ext uri="{FF2B5EF4-FFF2-40B4-BE49-F238E27FC236}">
                <a16:creationId xmlns:a16="http://schemas.microsoft.com/office/drawing/2014/main" id="{3CC01879-31A8-62D8-542B-20F84BBA75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772400" cy="45704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G"/>
              <a:t>Click to edit Master text styles</a:t>
            </a:r>
          </a:p>
          <a:p>
            <a:pPr lvl="1"/>
            <a:r>
              <a:rPr lang="en-US" altLang="en-UG"/>
              <a:t>Second level</a:t>
            </a:r>
          </a:p>
          <a:p>
            <a:pPr lvl="2"/>
            <a:r>
              <a:rPr lang="en-US" altLang="en-UG"/>
              <a:t>Third level</a:t>
            </a:r>
          </a:p>
          <a:p>
            <a:pPr lvl="3"/>
            <a:r>
              <a:rPr lang="en-US" altLang="en-UG"/>
              <a:t>Fourth level</a:t>
            </a:r>
          </a:p>
          <a:p>
            <a:pPr lvl="4"/>
            <a:r>
              <a:rPr lang="en-US" altLang="en-UG"/>
              <a:t>Fifth level</a:t>
            </a:r>
          </a:p>
        </p:txBody>
      </p:sp>
      <p:sp>
        <p:nvSpPr>
          <p:cNvPr id="80901" name="Rectangle 5">
            <a:extLst>
              <a:ext uri="{FF2B5EF4-FFF2-40B4-BE49-F238E27FC236}">
                <a16:creationId xmlns:a16="http://schemas.microsoft.com/office/drawing/2014/main" id="{393A92DA-DBDC-2FE8-07FD-554EE3AA5A4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7010400" y="41148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>
                <a:latin typeface="+mn-lt"/>
              </a:defRPr>
            </a:lvl1pPr>
          </a:lstStyle>
          <a:p>
            <a:endParaRPr lang="en-US" altLang="en-UG"/>
          </a:p>
        </p:txBody>
      </p:sp>
      <p:sp>
        <p:nvSpPr>
          <p:cNvPr id="80902" name="Rectangle 6">
            <a:extLst>
              <a:ext uri="{FF2B5EF4-FFF2-40B4-BE49-F238E27FC236}">
                <a16:creationId xmlns:a16="http://schemas.microsoft.com/office/drawing/2014/main" id="{FD4A09D7-AFDF-07AE-56CF-6EED8E9F1B27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6553200" y="4800600"/>
            <a:ext cx="2362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+mn-lt"/>
              </a:defRPr>
            </a:lvl1pPr>
          </a:lstStyle>
          <a:p>
            <a:endParaRPr lang="en-US" altLang="en-UG"/>
          </a:p>
        </p:txBody>
      </p:sp>
      <p:sp>
        <p:nvSpPr>
          <p:cNvPr id="80903" name="Rectangle 7">
            <a:extLst>
              <a:ext uri="{FF2B5EF4-FFF2-40B4-BE49-F238E27FC236}">
                <a16:creationId xmlns:a16="http://schemas.microsoft.com/office/drawing/2014/main" id="{C8C9467E-CA2B-74F3-C16A-7097827186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97625"/>
            <a:ext cx="914400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r"/>
            <a:r>
              <a:rPr lang="en-US" altLang="en-UG" sz="1800" dirty="0">
                <a:solidFill>
                  <a:srgbClr val="E0EDF0"/>
                </a:solidFill>
                <a:latin typeface="Arial Narrow" panose="020B0606020202030204" pitchFamily="34" charset="0"/>
              </a:rPr>
              <a:t>© Ainedembe Denis</a:t>
            </a:r>
          </a:p>
        </p:txBody>
      </p:sp>
      <p:sp>
        <p:nvSpPr>
          <p:cNvPr id="80904" name="Rectangle 8">
            <a:extLst>
              <a:ext uri="{FF2B5EF4-FFF2-40B4-BE49-F238E27FC236}">
                <a16:creationId xmlns:a16="http://schemas.microsoft.com/office/drawing/2014/main" id="{97A13079-6EA3-C7A4-266E-C1393F8ADC6F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397625"/>
            <a:ext cx="2011363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rgbClr val="0066CC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>
                <a:solidFill>
                  <a:srgbClr val="FFCC00"/>
                </a:solidFill>
                <a:latin typeface="+mn-lt"/>
              </a:defRPr>
            </a:lvl1pPr>
          </a:lstStyle>
          <a:p>
            <a:r>
              <a:rPr lang="en-US" altLang="en-UG" dirty="0"/>
              <a:t>  </a:t>
            </a:r>
            <a:r>
              <a:rPr lang="en-US" altLang="en-UG" sz="1800" dirty="0"/>
              <a:t>Slide</a:t>
            </a:r>
            <a:r>
              <a:rPr lang="en-US" altLang="en-UG" sz="1800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fld id="{123AB89C-1184-422F-A25B-A3C3FCC3E457}" type="slidenum">
              <a:rPr lang="en-US" altLang="en-UG" sz="1800" smtClean="0"/>
              <a:pPr/>
              <a:t>‹#›</a:t>
            </a:fld>
            <a:endParaRPr lang="en-US" altLang="en-UG" sz="18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ransition spd="med">
    <p:cover dir="u"/>
  </p:transition>
  <p:hf hdr="0" ftr="0" dt="0"/>
  <p:txStyles>
    <p:titleStyle>
      <a:lvl1pPr algn="l" rtl="0" fontAlgn="base">
        <a:spcBef>
          <a:spcPts val="60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2pPr>
      <a:lvl3pPr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3pPr>
      <a:lvl4pPr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4pPr>
      <a:lvl5pPr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5pPr>
      <a:lvl6pPr marL="457200"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6pPr>
      <a:lvl7pPr marL="914400"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7pPr>
      <a:lvl8pPr marL="1371600"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8pPr>
      <a:lvl9pPr marL="1828800" algn="l" rtl="0" fontAlgn="base">
        <a:spcBef>
          <a:spcPts val="600"/>
        </a:spcBef>
        <a:spcAft>
          <a:spcPct val="0"/>
        </a:spcAft>
        <a:defRPr sz="3200" b="1">
          <a:solidFill>
            <a:schemeClr val="bg1"/>
          </a:solidFill>
          <a:effectLst>
            <a:outerShdw blurRad="38100" dist="38100" dir="2700000" algn="tl">
              <a:srgbClr val="000000"/>
            </a:outerShdw>
          </a:effectLst>
          <a:latin typeface="Arial" panose="020B0604020202020204" pitchFamily="34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rgbClr val="008000"/>
        </a:buClr>
        <a:buFont typeface="Wingdings" panose="05000000000000000000" pitchFamily="2" charset="2"/>
        <a:buChar char="l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l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l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panose="05000000000000000000" pitchFamily="2" charset="2"/>
        <a:buChar char="l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lr>
          <a:schemeClr val="folHlink"/>
        </a:buClr>
        <a:buFont typeface="Wingdings" panose="05000000000000000000" pitchFamily="2" charset="2"/>
        <a:buChar char="l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Ainedembe-Denis/Systems-Programing---C-PROJECTS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inedembe-Denis/Systems-Programing---C-PROJECT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1619C6C9-8419-6C23-829B-F69077953329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381000" y="838200"/>
            <a:ext cx="8305800" cy="1752600"/>
          </a:xfrm>
        </p:spPr>
        <p:txBody>
          <a:bodyPr/>
          <a:lstStyle/>
          <a:p>
            <a:r>
              <a:rPr lang="en-US" altLang="en-UG" dirty="0"/>
              <a:t>ADVANCED SYSTEMS PROGRAMING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70D011BC-0BDD-6423-FDC6-BA83AE5297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8728482"/>
              </p:ext>
            </p:extLst>
          </p:nvPr>
        </p:nvGraphicFramePr>
        <p:xfrm>
          <a:off x="2286000" y="3048000"/>
          <a:ext cx="6485694" cy="2268651"/>
        </p:xfrm>
        <a:graphic>
          <a:graphicData uri="http://schemas.openxmlformats.org/drawingml/2006/table">
            <a:tbl>
              <a:tblPr/>
              <a:tblGrid>
                <a:gridCol w="2507910">
                  <a:extLst>
                    <a:ext uri="{9D8B030D-6E8A-4147-A177-3AD203B41FA5}">
                      <a16:colId xmlns:a16="http://schemas.microsoft.com/office/drawing/2014/main" val="2833264311"/>
                    </a:ext>
                  </a:extLst>
                </a:gridCol>
                <a:gridCol w="3977784">
                  <a:extLst>
                    <a:ext uri="{9D8B030D-6E8A-4147-A177-3AD203B41FA5}">
                      <a16:colId xmlns:a16="http://schemas.microsoft.com/office/drawing/2014/main" val="2784720884"/>
                    </a:ext>
                  </a:extLst>
                </a:gridCol>
              </a:tblGrid>
              <a:tr h="49469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en-UG" sz="30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Systems Programming - C Projects</a:t>
                      </a:r>
                    </a:p>
                  </a:txBody>
                  <a:tcPr marL="136991" marR="136991" marT="68496" marB="68496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G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2084472"/>
                  </a:ext>
                </a:extLst>
              </a:tr>
              <a:tr h="2949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STUDENT NAME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AINEDEMBE DENIS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7606296"/>
                  </a:ext>
                </a:extLst>
              </a:tr>
              <a:tr h="2949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REG. NO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2024-M132-23999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45980039"/>
                  </a:ext>
                </a:extLst>
              </a:tr>
              <a:tr h="294911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LECTURER 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CA" sz="1800" b="1" i="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</a:rPr>
                        <a:t>Dr. WAUYO FRED</a:t>
                      </a:r>
                    </a:p>
                    <a:p>
                      <a:pPr algn="l" fontAlgn="ctr">
                        <a:buNone/>
                      </a:pPr>
                      <a:endParaRPr lang="en-CA" sz="1800" b="1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13" marR="9513" marT="9513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648244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24157260-EAF0-52C3-D562-0A62937135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81800" y="556507"/>
            <a:ext cx="1989894" cy="211049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1C4332F-70D3-963B-507B-962959770D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" y="4876800"/>
            <a:ext cx="1752600" cy="17526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B99E248-BFDB-BC0D-1107-2161100C60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800" y="3030220"/>
            <a:ext cx="1447800" cy="14478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6336F9C-7517-44BD-9512-8E7DA3527A1A}"/>
              </a:ext>
            </a:extLst>
          </p:cNvPr>
          <p:cNvSpPr txBox="1"/>
          <p:nvPr/>
        </p:nvSpPr>
        <p:spPr>
          <a:xfrm>
            <a:off x="2225040" y="5839404"/>
            <a:ext cx="65466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sz="1600" dirty="0">
                <a:hlinkClick r:id="rId6"/>
              </a:rPr>
              <a:t>https://github.com/Ainedembe-Denis/Systems-Programing---C-PROJECTS</a:t>
            </a:r>
            <a:r>
              <a:rPr lang="en-US" sz="1600" dirty="0"/>
              <a:t> </a:t>
            </a:r>
            <a:endParaRPr lang="en-UG" sz="1600" dirty="0"/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F044B898-A2DA-17D3-E91D-8BB92C1609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98272" y="5492158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914400" indent="-9144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SzPct val="125000"/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1800" dirty="0" err="1"/>
              <a:t>Github</a:t>
            </a:r>
            <a:r>
              <a:rPr lang="en-US" altLang="en-UG" sz="1800" dirty="0"/>
              <a:t> Repository:</a:t>
            </a:r>
          </a:p>
        </p:txBody>
      </p:sp>
    </p:spTree>
  </p:cSld>
  <p:clrMapOvr>
    <a:masterClrMapping/>
  </p:clrMapOvr>
  <p:transition spd="med">
    <p:cover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B8B1C-ED24-9D9F-FEF6-15C6227BB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B7C25EEB-8985-0B98-CF76-C7AF2E0DA904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en-UG" dirty="0"/>
              <a:t>  Slide 1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BFE61883-7AF1-A100-6DF6-0C0C090540B0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11363" y="609600"/>
            <a:ext cx="6399213" cy="1752600"/>
          </a:xfrm>
        </p:spPr>
        <p:txBody>
          <a:bodyPr/>
          <a:lstStyle/>
          <a:p>
            <a:r>
              <a:rPr lang="en-US" altLang="en-UG" dirty="0"/>
              <a:t>Bank Account Management System 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9C7FDBE9-18EE-2A09-5E71-06C0A925EB10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143001" y="2907506"/>
            <a:ext cx="7086600" cy="3188494"/>
          </a:xfrm>
        </p:spPr>
        <p:txBody>
          <a:bodyPr/>
          <a:lstStyle/>
          <a:p>
            <a:pPr marL="0" indent="0" algn="just">
              <a:buNone/>
            </a:pPr>
            <a:r>
              <a:rPr lang="en-US" altLang="en-UG" sz="2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 system for managing bank accounts. It supports: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account creation, 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deposits,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withdrawals,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balance inquiries and</a:t>
            </a:r>
          </a:p>
          <a:p>
            <a:pPr indent="-650875" algn="just"/>
            <a:r>
              <a:rPr lang="en-US" altLang="en-UG" sz="25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account details inquiries</a:t>
            </a:r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ED0C21B9-6EB3-E0A7-1914-05518591E5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404813"/>
            <a:ext cx="1384300" cy="2395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b" anchorCtr="1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G" sz="189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1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EFB6E0F-991C-BC11-E999-7B31A98A33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05400" y="3886200"/>
            <a:ext cx="3201988" cy="1447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914400" indent="-9144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SzPct val="125000"/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5600" indent="-355600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Role-based access (Teller/Admin).</a:t>
            </a:r>
          </a:p>
          <a:p>
            <a:pPr marL="355600" indent="-355600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Multi-currency support (UGX/USD).</a:t>
            </a:r>
          </a:p>
          <a:p>
            <a:pPr marL="355600" indent="-355600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Minimum balance enforcement.</a:t>
            </a:r>
          </a:p>
          <a:p>
            <a:pPr marL="355600" indent="-355600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Audit logging.</a:t>
            </a:r>
            <a:endParaRPr lang="en-US" altLang="en-UG" sz="1600" dirty="0"/>
          </a:p>
        </p:txBody>
      </p:sp>
    </p:spTree>
    <p:extLst>
      <p:ext uri="{BB962C8B-B14F-4D97-AF65-F5344CB8AC3E}">
        <p14:creationId xmlns:p14="http://schemas.microsoft.com/office/powerpoint/2010/main" val="2459902390"/>
      </p:ext>
    </p:extLst>
  </p:cSld>
  <p:clrMapOvr>
    <a:masterClrMapping/>
  </p:clrMapOvr>
  <p:transition spd="med">
    <p:cover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56EE1-2DF4-A1EB-CB42-FB2A8B4CE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AEE87-C493-3E48-2215-9F4A6AF41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sz="3000" dirty="0"/>
              <a:t>User Authentication, Authorization &amp; Logging</a:t>
            </a:r>
            <a:endParaRPr lang="en-UG" sz="3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720A8-3DAC-618D-F6C8-315ED3FE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</a:t>
            </a:r>
            <a:r>
              <a:rPr lang="en-US" altLang="en-UG" b="1" dirty="0">
                <a:effectLst>
                  <a:outerShdw blurRad="38100" dist="38100" dir="2700000" algn="tl">
                    <a:srgbClr val="FFFFFF"/>
                  </a:outerShdw>
                </a:effectLst>
              </a:rPr>
              <a:t> </a:t>
            </a:r>
            <a:r>
              <a:rPr lang="en-US" altLang="en-UG" dirty="0"/>
              <a:t>2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AC3658F-37C6-FCAA-C2A8-231D63DD8CF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838200"/>
            <a:ext cx="3289935" cy="457200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Login as Teller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7D1B6E-5774-9ADE-93EB-E4A754E655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61" t="9183"/>
          <a:stretch>
            <a:fillRect/>
          </a:stretch>
        </p:blipFill>
        <p:spPr>
          <a:xfrm>
            <a:off x="293053" y="1295399"/>
            <a:ext cx="3808180" cy="226059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B3B00B2-ECC8-DC8F-3164-76234F9397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9183"/>
          <a:stretch>
            <a:fillRect/>
          </a:stretch>
        </p:blipFill>
        <p:spPr>
          <a:xfrm>
            <a:off x="4338322" y="1295400"/>
            <a:ext cx="4480558" cy="2260599"/>
          </a:xfrm>
          <a:prstGeom prst="rect">
            <a:avLst/>
          </a:prstGeom>
        </p:spPr>
      </p:pic>
      <p:sp>
        <p:nvSpPr>
          <p:cNvPr id="8" name="Rectangle 3">
            <a:extLst>
              <a:ext uri="{FF2B5EF4-FFF2-40B4-BE49-F238E27FC236}">
                <a16:creationId xmlns:a16="http://schemas.microsoft.com/office/drawing/2014/main" id="{979D8ED8-0FA1-2A2F-A6E1-758859D9A1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7200" y="838200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Login as System Admin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65DA9E-A08B-8FF6-722D-E80E208075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3600" y="3884617"/>
            <a:ext cx="6690358" cy="2336789"/>
          </a:xfrm>
          <a:prstGeom prst="rect">
            <a:avLst/>
          </a:prstGeom>
        </p:spPr>
      </p:pic>
      <p:sp>
        <p:nvSpPr>
          <p:cNvPr id="13" name="Rectangle 3">
            <a:extLst>
              <a:ext uri="{FF2B5EF4-FFF2-40B4-BE49-F238E27FC236}">
                <a16:creationId xmlns:a16="http://schemas.microsoft.com/office/drawing/2014/main" id="{A129C103-2FCA-679E-D6AF-E6B7AC635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3376" y="4569616"/>
            <a:ext cx="1677987" cy="9667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Audit Trail</a:t>
            </a: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1500" b="1" dirty="0"/>
              <a:t>- For Accountability</a:t>
            </a:r>
          </a:p>
        </p:txBody>
      </p:sp>
    </p:spTree>
    <p:extLst>
      <p:ext uri="{BB962C8B-B14F-4D97-AF65-F5344CB8AC3E}">
        <p14:creationId xmlns:p14="http://schemas.microsoft.com/office/powerpoint/2010/main" val="429572457"/>
      </p:ext>
    </p:extLst>
  </p:cSld>
  <p:clrMapOvr>
    <a:masterClrMapping/>
  </p:clrMapOvr>
  <p:transition spd="med">
    <p:cover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CBA4F-A9B8-3EDF-0A5E-3E4533D6F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AACE1-F2AE-EA06-EE28-67F4B9509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0D30CC-4A67-3CA8-ABCF-218E5E0C0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3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0D5594B-946A-C050-159E-9F71EADEB76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39065" y="838200"/>
            <a:ext cx="3289935" cy="360204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Create New Account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F3F259E4-2A2F-026D-C2AE-961B1308B4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838200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Account Inquiry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9309476-A1E8-5117-7886-2B72FB550E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334" y="1252904"/>
            <a:ext cx="3719882" cy="225229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24C066C-5B89-DA14-7F42-DE86465301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573" y="3984576"/>
            <a:ext cx="3648499" cy="2316053"/>
          </a:xfrm>
          <a:prstGeom prst="rect">
            <a:avLst/>
          </a:prstGeom>
        </p:spPr>
      </p:pic>
      <p:sp>
        <p:nvSpPr>
          <p:cNvPr id="16" name="Rectangle 3">
            <a:extLst>
              <a:ext uri="{FF2B5EF4-FFF2-40B4-BE49-F238E27FC236}">
                <a16:creationId xmlns:a16="http://schemas.microsoft.com/office/drawing/2014/main" id="{693896E2-7CFD-D34A-9CCB-1042FB7EC1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3505200"/>
            <a:ext cx="368247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Deposit money to account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A4A77436-CCCB-1F82-2E4F-C44267F217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427" y="1252904"/>
            <a:ext cx="3429000" cy="2399187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AFF4D4A-FFA0-91D2-B9EB-E2AA93369B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4166" y="4343400"/>
            <a:ext cx="4537261" cy="1914532"/>
          </a:xfrm>
          <a:prstGeom prst="rect">
            <a:avLst/>
          </a:prstGeom>
        </p:spPr>
      </p:pic>
      <p:sp>
        <p:nvSpPr>
          <p:cNvPr id="21" name="Rectangle 3">
            <a:extLst>
              <a:ext uri="{FF2B5EF4-FFF2-40B4-BE49-F238E27FC236}">
                <a16:creationId xmlns:a16="http://schemas.microsoft.com/office/drawing/2014/main" id="{C892A4F3-6317-CB6F-BBDA-F5E4F2B2BF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43400" y="3810000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Withdrawing money</a:t>
            </a:r>
          </a:p>
        </p:txBody>
      </p:sp>
    </p:spTree>
    <p:extLst>
      <p:ext uri="{BB962C8B-B14F-4D97-AF65-F5344CB8AC3E}">
        <p14:creationId xmlns:p14="http://schemas.microsoft.com/office/powerpoint/2010/main" val="847851706"/>
      </p:ext>
    </p:extLst>
  </p:cSld>
  <p:clrMapOvr>
    <a:masterClrMapping/>
  </p:clrMapOvr>
  <p:transition spd="med">
    <p:cover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FA47C-8D25-7B93-7B2B-B65418641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Checks / Controls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E22D8-CDF7-43D7-A02B-6EE01C119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4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A5617E-5A18-1027-0796-F0C1A5990A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093" y="1219200"/>
            <a:ext cx="3882707" cy="2026584"/>
          </a:xfrm>
          <a:prstGeom prst="rect">
            <a:avLst/>
          </a:prstGeom>
        </p:spPr>
      </p:pic>
      <p:sp>
        <p:nvSpPr>
          <p:cNvPr id="11" name="Rectangle 3">
            <a:extLst>
              <a:ext uri="{FF2B5EF4-FFF2-40B4-BE49-F238E27FC236}">
                <a16:creationId xmlns:a16="http://schemas.microsoft.com/office/drawing/2014/main" id="{129FE799-C8F4-5524-A1B7-EC4442C40506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52400" y="762000"/>
            <a:ext cx="3670935" cy="457200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Insufficient balance check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595647C-40BC-A6C3-4668-A5F711C716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676" y="1282517"/>
            <a:ext cx="4248562" cy="1994083"/>
          </a:xfrm>
          <a:prstGeom prst="rect">
            <a:avLst/>
          </a:prstGeom>
        </p:spPr>
      </p:pic>
      <p:sp>
        <p:nvSpPr>
          <p:cNvPr id="14" name="Rectangle 3">
            <a:extLst>
              <a:ext uri="{FF2B5EF4-FFF2-40B4-BE49-F238E27FC236}">
                <a16:creationId xmlns:a16="http://schemas.microsoft.com/office/drawing/2014/main" id="{0E2697DF-088B-4034-2381-5A1BAE14BD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7325" y="804661"/>
            <a:ext cx="3670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Duplicate Accounts check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02E8EBEC-9C36-7576-CA89-EDB050E8DA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352" y="3917101"/>
            <a:ext cx="3838516" cy="1787544"/>
          </a:xfrm>
          <a:prstGeom prst="rect">
            <a:avLst/>
          </a:prstGeom>
        </p:spPr>
      </p:pic>
      <p:sp>
        <p:nvSpPr>
          <p:cNvPr id="17" name="Rectangle 3">
            <a:extLst>
              <a:ext uri="{FF2B5EF4-FFF2-40B4-BE49-F238E27FC236}">
                <a16:creationId xmlns:a16="http://schemas.microsoft.com/office/drawing/2014/main" id="{D5BAF6CE-763F-DE2B-D22D-9DFA47618CE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3408204"/>
            <a:ext cx="3670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Account not found check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2F2A59A-0A54-DF64-4ACD-4E00BD5E56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676" y="3962400"/>
            <a:ext cx="4218082" cy="1268721"/>
          </a:xfrm>
          <a:prstGeom prst="rect">
            <a:avLst/>
          </a:prstGeom>
        </p:spPr>
      </p:pic>
      <p:sp>
        <p:nvSpPr>
          <p:cNvPr id="20" name="Rectangle 3">
            <a:extLst>
              <a:ext uri="{FF2B5EF4-FFF2-40B4-BE49-F238E27FC236}">
                <a16:creationId xmlns:a16="http://schemas.microsoft.com/office/drawing/2014/main" id="{EC920E5E-0D88-39E9-6484-EA6D68224E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58665" y="3505200"/>
            <a:ext cx="3670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Invalid credentials check</a:t>
            </a:r>
          </a:p>
        </p:txBody>
      </p:sp>
    </p:spTree>
    <p:extLst>
      <p:ext uri="{BB962C8B-B14F-4D97-AF65-F5344CB8AC3E}">
        <p14:creationId xmlns:p14="http://schemas.microsoft.com/office/powerpoint/2010/main" val="3478617230"/>
      </p:ext>
    </p:extLst>
  </p:cSld>
  <p:clrMapOvr>
    <a:masterClrMapping/>
  </p:clrMapOvr>
  <p:transition spd="med">
    <p:cover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326CA-119D-5F85-F0BE-CABE3F7C4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7BD70-3FE5-DC5C-E8D0-A78A4FCB8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228600"/>
            <a:ext cx="8683625" cy="685800"/>
          </a:xfrm>
        </p:spPr>
        <p:txBody>
          <a:bodyPr/>
          <a:lstStyle/>
          <a:p>
            <a:r>
              <a:rPr lang="en-US" dirty="0"/>
              <a:t>Audit Trail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30BDF6-5CEE-1BA4-A4C1-9168CAF0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5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451664-ECE1-43A9-6A3E-458DADF6D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151" y="1226481"/>
            <a:ext cx="8617487" cy="4869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508563"/>
      </p:ext>
    </p:extLst>
  </p:cSld>
  <p:clrMapOvr>
    <a:masterClrMapping/>
  </p:clrMapOvr>
  <p:transition spd="med">
    <p:cover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FB74D-C928-AF77-A2EC-EEF47E5CC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D9269CA9-5A2F-6B2F-4BC3-E3749B762933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en-UG" dirty="0"/>
              <a:t>  Slide 6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DD3BC078-EA0A-0DDF-9284-E6E2FF68CFCC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11363" y="609600"/>
            <a:ext cx="6399213" cy="1752600"/>
          </a:xfrm>
        </p:spPr>
        <p:txBody>
          <a:bodyPr/>
          <a:lstStyle/>
          <a:p>
            <a:r>
              <a:rPr lang="en-US" altLang="en-UG" dirty="0"/>
              <a:t>Loan Eligibility &amp; EMI Calculator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D2C2D997-5B78-EA69-44F7-E2B248547C4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143000" y="2743200"/>
            <a:ext cx="7315200" cy="3505200"/>
          </a:xfrm>
        </p:spPr>
        <p:txBody>
          <a:bodyPr/>
          <a:lstStyle/>
          <a:p>
            <a:pPr indent="-650875" algn="just"/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This program calculates the Monthly Loan EMI (Equated Monthly Installment).</a:t>
            </a:r>
          </a:p>
          <a:p>
            <a:pPr indent="-650875" algn="just"/>
            <a:endParaRPr lang="en-US" altLang="en-UG" sz="18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indent="-650875" algn="just"/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The program converts the annual interest rate to a monthly interest rate.</a:t>
            </a:r>
          </a:p>
          <a:p>
            <a:pPr indent="-650875" algn="just"/>
            <a:endParaRPr lang="en-US" altLang="en-UG" sz="18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indent="-650875" algn="just"/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It then uses the EMI formula to compute the monthly payment and then checks loan eligibility.</a:t>
            </a:r>
          </a:p>
          <a:p>
            <a:pPr marL="263525" indent="0" algn="just">
              <a:buNone/>
            </a:pPr>
            <a:r>
              <a:rPr lang="pt-BR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            </a:t>
            </a:r>
          </a:p>
          <a:p>
            <a:pPr marL="263525" indent="0" algn="just">
              <a:buNone/>
            </a:pPr>
            <a:endParaRPr lang="en-US" altLang="en-UG" sz="18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indent="-650875" algn="just"/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 person is eligible for the loan only if the EMI is less than or equal to 40% of their monthly salary.</a:t>
            </a:r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4D142AFD-3F5D-3BB4-DFCB-795398648C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381226"/>
            <a:ext cx="1396536" cy="24191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b" anchorCtr="1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G" sz="189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91B055A-7EAA-48E4-7DB9-8901C4F17B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5915" y="4876726"/>
            <a:ext cx="2210108" cy="533474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61158114"/>
      </p:ext>
    </p:extLst>
  </p:cSld>
  <p:clrMapOvr>
    <a:masterClrMapping/>
  </p:clrMapOvr>
  <p:transition spd="med">
    <p:cover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0F6AD-3FC9-229F-28E1-A54F0B12B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87F624-6944-C5D7-398B-A068B2AC7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Checks / Controls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8C786E-1C9F-45AB-3182-CFA04A78E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7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8714B14D-611E-59CF-18B3-15F4481706C1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52400" y="838200"/>
            <a:ext cx="3670935" cy="909321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000" b="1" dirty="0"/>
              <a:t>Not ELIGIBLE </a:t>
            </a:r>
          </a:p>
          <a:p>
            <a:pPr marL="0" indent="0">
              <a:buNone/>
            </a:pPr>
            <a:r>
              <a:rPr lang="en-US" altLang="en-UG" sz="2000" b="1" dirty="0"/>
              <a:t>The EMI is within 40% of salary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BBD843FE-A1C1-02E8-9AA3-8942CF5898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11065" y="838200"/>
            <a:ext cx="3670935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en-UG" sz="2000" b="1" dirty="0"/>
              <a:t>Not ELIGIBLE </a:t>
            </a:r>
          </a:p>
          <a:p>
            <a:pPr marL="0" indent="0">
              <a:buNone/>
            </a:pPr>
            <a:r>
              <a:rPr lang="en-US" altLang="en-UG" sz="2000" b="1" dirty="0"/>
              <a:t>The EMI exceeds 40% of salary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6BC74E-2E1B-BABA-34ED-B6B2155873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5829" y="1671321"/>
            <a:ext cx="4123371" cy="24434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E6FFA9-F1D8-89E5-60BA-1C825EEC16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13" y="1678471"/>
            <a:ext cx="4143783" cy="243632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0EF902E-4B1E-4551-0688-302A96E368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4707975"/>
            <a:ext cx="2987074" cy="108322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E7D5DFD0-B42C-4562-4E74-A60C9A7B0D69}"/>
              </a:ext>
            </a:extLst>
          </p:cNvPr>
          <p:cNvSpPr txBox="1"/>
          <p:nvPr/>
        </p:nvSpPr>
        <p:spPr>
          <a:xfrm>
            <a:off x="3657600" y="4648200"/>
            <a:ext cx="3810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+mn-lt"/>
              </a:rPr>
              <a:t>Where: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    </a:t>
            </a:r>
            <a:r>
              <a:rPr lang="en-US" sz="2000" dirty="0">
                <a:latin typeface="+mn-lt"/>
              </a:rPr>
              <a:t>P = Principal / Loan Amount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     R = Monthly Interest Rate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     N = Loan Tenure/duration in Months </a:t>
            </a:r>
            <a:endParaRPr lang="en-UG" sz="20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66225915"/>
      </p:ext>
    </p:extLst>
  </p:cSld>
  <p:clrMapOvr>
    <a:masterClrMapping/>
  </p:clrMapOvr>
  <p:transition spd="med">
    <p:cover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7FD61-72FC-8DDA-1126-36B41C16D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6D80B889-E553-ACA6-9EDA-0B785172E70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en-UG" dirty="0"/>
              <a:t>  Slide 8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B320C333-AC87-839D-8775-E9305881D50F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11363" y="609600"/>
            <a:ext cx="6399213" cy="1752600"/>
          </a:xfrm>
        </p:spPr>
        <p:txBody>
          <a:bodyPr/>
          <a:lstStyle/>
          <a:p>
            <a:r>
              <a:rPr lang="en-US" altLang="en-UG" dirty="0"/>
              <a:t>Library Management System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B57973C0-DC54-A960-77F5-C5C89264BE01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1447800" y="2743200"/>
            <a:ext cx="7315200" cy="3505200"/>
          </a:xfrm>
        </p:spPr>
        <p:txBody>
          <a:bodyPr/>
          <a:lstStyle/>
          <a:p>
            <a:pPr marL="549275" indent="-549275" algn="just"/>
            <a:r>
              <a:rPr lang="en-US" altLang="en-UG" sz="18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Add Book </a:t>
            </a:r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Stores new books with ID, title, and author in a file.</a:t>
            </a:r>
          </a:p>
          <a:p>
            <a:pPr marL="549275" indent="-549275" algn="just"/>
            <a:endParaRPr lang="en-US" altLang="en-UG" sz="18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549275" indent="-549275" algn="just"/>
            <a:r>
              <a:rPr lang="en-US" altLang="en-UG" sz="18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Search Book </a:t>
            </a:r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Finds a book by ID and displays its details and availability status.</a:t>
            </a:r>
          </a:p>
          <a:p>
            <a:pPr marL="549275" indent="-549275" algn="just"/>
            <a:endParaRPr lang="en-US" altLang="en-UG" sz="18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549275" indent="-549275" algn="just"/>
            <a:r>
              <a:rPr lang="en-US" altLang="en-UG" sz="18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Issue Book </a:t>
            </a:r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Records when a student borrows a book, including borrower registration number, issue date/time, and expected return date.</a:t>
            </a:r>
          </a:p>
          <a:p>
            <a:pPr marL="549275" indent="-549275" algn="just"/>
            <a:endParaRPr lang="en-US" altLang="en-UG" sz="18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549275" indent="-549275" algn="just"/>
            <a:r>
              <a:rPr lang="en-US" altLang="en-UG" sz="18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Return Book </a:t>
            </a:r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Updates the system when a borrowed book is returned.</a:t>
            </a:r>
          </a:p>
          <a:p>
            <a:pPr marL="549275" indent="-549275" algn="just"/>
            <a:endParaRPr lang="en-US" altLang="en-UG" sz="18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549275" indent="-549275" algn="just"/>
            <a:r>
              <a:rPr lang="en-US" altLang="en-UG" sz="18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Display Books </a:t>
            </a:r>
            <a:r>
              <a:rPr lang="en-US" altLang="en-UG" sz="18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Shows all books stored in the library system.</a:t>
            </a:r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F427D135-4233-A6AB-40C7-6F873BAA7B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381226"/>
            <a:ext cx="1396536" cy="24191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b" anchorCtr="1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G" sz="189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892026730"/>
      </p:ext>
    </p:extLst>
  </p:cSld>
  <p:clrMapOvr>
    <a:masterClrMapping/>
  </p:clrMapOvr>
  <p:transition spd="med">
    <p:cover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D09F3-ABCF-376E-644E-FE57D8A38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1D45D-AFFE-1939-273D-BE8C297FE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74514C-A856-E239-0864-14396526A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9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5E7D38CC-942E-D41E-BF34-0694A0DC481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15265" y="838200"/>
            <a:ext cx="3289935" cy="360204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Create / Add a New Book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659C61A8-D8E0-41AC-9ADE-37DBA84D19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67200" y="762000"/>
            <a:ext cx="328993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Issue out a Book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44B73D9-2DBD-01DA-8686-5F9A8987D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087" y="1285565"/>
            <a:ext cx="3101913" cy="199103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24D55BF-2EE9-EAAA-2E1C-559620096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547" y="3810000"/>
            <a:ext cx="3122453" cy="2415836"/>
          </a:xfrm>
          <a:prstGeom prst="rect">
            <a:avLst/>
          </a:prstGeom>
        </p:spPr>
      </p:pic>
      <p:sp>
        <p:nvSpPr>
          <p:cNvPr id="19" name="Rectangle 3">
            <a:extLst>
              <a:ext uri="{FF2B5EF4-FFF2-40B4-BE49-F238E27FC236}">
                <a16:creationId xmlns:a16="http://schemas.microsoft.com/office/drawing/2014/main" id="{3BC2B55A-E097-6D21-24B5-00A15CE5F1D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1" y="3352800"/>
            <a:ext cx="2698914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Search for a Book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9ABC4CCE-C12B-2FF9-C3D5-F99240F447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064" y="1219200"/>
            <a:ext cx="4467849" cy="219105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3A6AABD2-2CD0-B955-649E-78450A6248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12167" y="3872726"/>
            <a:ext cx="2763587" cy="2299474"/>
          </a:xfrm>
          <a:prstGeom prst="rect">
            <a:avLst/>
          </a:prstGeom>
        </p:spPr>
      </p:pic>
      <p:sp>
        <p:nvSpPr>
          <p:cNvPr id="26" name="Rectangle 3">
            <a:extLst>
              <a:ext uri="{FF2B5EF4-FFF2-40B4-BE49-F238E27FC236}">
                <a16:creationId xmlns:a16="http://schemas.microsoft.com/office/drawing/2014/main" id="{D98294B3-698A-6DDE-54FD-DDD2644F4E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0967" y="4636918"/>
            <a:ext cx="1981200" cy="762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000" b="1" dirty="0"/>
              <a:t>Search for a Book</a:t>
            </a:r>
          </a:p>
          <a:p>
            <a:pPr marL="0" indent="0" algn="r">
              <a:buFont typeface="Wingdings" panose="05000000000000000000" pitchFamily="2" charset="2"/>
              <a:buNone/>
            </a:pPr>
            <a:r>
              <a:rPr lang="en-US" altLang="en-UG" sz="2000" b="1" dirty="0"/>
              <a:t>- Issued</a:t>
            </a:r>
          </a:p>
        </p:txBody>
      </p:sp>
    </p:spTree>
    <p:extLst>
      <p:ext uri="{BB962C8B-B14F-4D97-AF65-F5344CB8AC3E}">
        <p14:creationId xmlns:p14="http://schemas.microsoft.com/office/powerpoint/2010/main" val="928775774"/>
      </p:ext>
    </p:extLst>
  </p:cSld>
  <p:clrMapOvr>
    <a:masterClrMapping/>
  </p:clrMapOvr>
  <p:transition spd="med">
    <p:cover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B6BE06-1E21-F28C-DEC7-1B8689164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D1371-5926-E4DF-1416-9DB9AE2724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C56279-B958-08D4-6DCC-C1826E02C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10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C03F73B3-E0AD-A955-087A-6831BE05D93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139065" y="838200"/>
            <a:ext cx="3289935" cy="360204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Display all Books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81846E0-A9DF-EF85-B76E-0C8AFA9759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43600" y="762000"/>
            <a:ext cx="20574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Return a Book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16D78A0-09D8-3942-0411-5C48385AF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44" y="1295401"/>
            <a:ext cx="4003231" cy="49529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49088EC-FA30-12F2-7D10-503060A787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800" y="1180839"/>
            <a:ext cx="2715004" cy="186716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F047DE3-979B-2B9D-C395-3D911C8F7C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9293" y="3124200"/>
            <a:ext cx="2433707" cy="3124200"/>
          </a:xfrm>
          <a:prstGeom prst="rect">
            <a:avLst/>
          </a:prstGeom>
        </p:spPr>
      </p:pic>
      <p:sp>
        <p:nvSpPr>
          <p:cNvPr id="15" name="Rectangle 3">
            <a:extLst>
              <a:ext uri="{FF2B5EF4-FFF2-40B4-BE49-F238E27FC236}">
                <a16:creationId xmlns:a16="http://schemas.microsoft.com/office/drawing/2014/main" id="{9681D506-5459-28FC-5A53-16CE97DB8E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14800" y="4267200"/>
            <a:ext cx="2057401" cy="838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Wingdings" panose="05000000000000000000" pitchFamily="2" charset="2"/>
              <a:buNone/>
            </a:pPr>
            <a:r>
              <a:rPr lang="en-US" altLang="en-UG" sz="2000" b="1" dirty="0"/>
              <a:t>Available Books</a:t>
            </a:r>
          </a:p>
          <a:p>
            <a:pPr marL="0" indent="0" algn="r">
              <a:buFont typeface="Wingdings" panose="05000000000000000000" pitchFamily="2" charset="2"/>
              <a:buNone/>
            </a:pPr>
            <a:r>
              <a:rPr lang="en-US" altLang="en-UG" sz="2000" b="1" dirty="0"/>
              <a:t>- New status</a:t>
            </a:r>
          </a:p>
        </p:txBody>
      </p:sp>
    </p:spTree>
    <p:extLst>
      <p:ext uri="{BB962C8B-B14F-4D97-AF65-F5344CB8AC3E}">
        <p14:creationId xmlns:p14="http://schemas.microsoft.com/office/powerpoint/2010/main" val="2166407202"/>
      </p:ext>
    </p:extLst>
  </p:cSld>
  <p:clrMapOvr>
    <a:masterClrMapping/>
  </p:clrMapOvr>
  <p:transition spd="med">
    <p:cover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78D105-8B8C-E118-7586-CFEA6E56B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9E52B2C4-5F95-7BDF-4DF8-02475308A4B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en-UG" dirty="0"/>
              <a:t>  Slide 11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40C6422E-CD74-E7FA-FCEA-2C324F8DD8B0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11363" y="609600"/>
            <a:ext cx="6399213" cy="1752600"/>
          </a:xfrm>
        </p:spPr>
        <p:txBody>
          <a:bodyPr/>
          <a:lstStyle/>
          <a:p>
            <a:r>
              <a:rPr lang="en-US" altLang="en-UG" dirty="0"/>
              <a:t>Student Record Management System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9DFDFAB1-0FB1-29B5-E747-833E8A934E02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304800" y="2746375"/>
            <a:ext cx="8534400" cy="3730625"/>
          </a:xfrm>
        </p:spPr>
        <p:txBody>
          <a:bodyPr/>
          <a:lstStyle/>
          <a:p>
            <a:pPr marL="630238" indent="-447675" algn="just"/>
            <a:r>
              <a:rPr lang="en-US" altLang="en-UG" sz="175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Add Student </a:t>
            </a:r>
            <a:r>
              <a:rPr lang="en-US" altLang="en-UG" sz="175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Records student details such as ID, name, gender, and marks for subjects.</a:t>
            </a:r>
          </a:p>
          <a:p>
            <a:pPr marL="630238" indent="-447675" algn="just"/>
            <a:endParaRPr lang="en-US" altLang="en-UG" sz="175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630238" indent="-447675" algn="just"/>
            <a:r>
              <a:rPr lang="en-US" altLang="en-UG" sz="175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Calculate Results </a:t>
            </a:r>
            <a:r>
              <a:rPr lang="en-US" altLang="en-UG" sz="175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Automatically calculates the average score and assigns a grade (A–F) based on performance.</a:t>
            </a:r>
          </a:p>
          <a:p>
            <a:pPr marL="630238" indent="-447675" algn="just"/>
            <a:endParaRPr lang="en-US" altLang="en-UG" sz="175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630238" indent="-447675" algn="just"/>
            <a:r>
              <a:rPr lang="en-US" altLang="en-UG" sz="175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Display Reports </a:t>
            </a:r>
            <a:r>
              <a:rPr lang="en-US" altLang="en-UG" sz="175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Allows viewing all students sorted by average score or displaying an individual student's report using their ID.</a:t>
            </a:r>
          </a:p>
          <a:p>
            <a:pPr marL="630238" indent="-447675" algn="just"/>
            <a:endParaRPr lang="en-US" altLang="en-UG" sz="175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630238" indent="-447675" algn="just"/>
            <a:r>
              <a:rPr lang="en-US" altLang="en-UG" sz="175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Search Student </a:t>
            </a:r>
            <a:r>
              <a:rPr lang="en-US" altLang="en-UG" sz="175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Finds a specific student using their Student ID.</a:t>
            </a:r>
          </a:p>
          <a:p>
            <a:pPr marL="630238" indent="-447675" algn="just"/>
            <a:endParaRPr lang="en-US" altLang="en-UG" sz="175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630238" indent="-447675" algn="just"/>
            <a:r>
              <a:rPr lang="en-US" altLang="en-UG" sz="175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Save &amp; Load Data </a:t>
            </a:r>
            <a:r>
              <a:rPr lang="en-US" altLang="en-UG" sz="175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Stores records in a file so data is preserved even after the program closes.</a:t>
            </a:r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80C014E7-223E-37B3-B031-D7B1D81904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381226"/>
            <a:ext cx="1396536" cy="24191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b" anchorCtr="1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G" sz="189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91080516"/>
      </p:ext>
    </p:extLst>
  </p:cSld>
  <p:clrMapOvr>
    <a:masterClrMapping/>
  </p:clrMapOvr>
  <p:transition spd="med">
    <p:cover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FCE1B7-6C79-2C29-178C-0ABDBD785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FAA31-8DAE-EF60-0408-B2602FA900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- </a:t>
            </a:r>
            <a:r>
              <a:rPr lang="en-US" altLang="en-UG" dirty="0"/>
              <a:t>Add Student / Record Marks 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BE0629-1946-5A87-DE77-078161024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12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74756DA-93CD-AAF0-D7F6-CF9582165F48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67665" y="1066800"/>
            <a:ext cx="2451735" cy="914400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Add student marks - 1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AF7E1E6-6F1D-4BFD-8A5E-9EABCD4C4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65" y="2057400"/>
            <a:ext cx="2508096" cy="271503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23A8F46-9483-B001-C107-5F17C2E6A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5916" y="2971800"/>
            <a:ext cx="2445818" cy="2656386"/>
          </a:xfrm>
          <a:prstGeom prst="rect">
            <a:avLst/>
          </a:prstGeom>
        </p:spPr>
      </p:pic>
      <p:sp>
        <p:nvSpPr>
          <p:cNvPr id="11" name="Rectangle 3">
            <a:extLst>
              <a:ext uri="{FF2B5EF4-FFF2-40B4-BE49-F238E27FC236}">
                <a16:creationId xmlns:a16="http://schemas.microsoft.com/office/drawing/2014/main" id="{21AF2880-F915-AA6A-E34F-0E26318C30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076" y="2123440"/>
            <a:ext cx="2299335" cy="7721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Add student marks - 2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CBAA97E-ABF4-C01E-4411-868AECB567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1889" y="3539065"/>
            <a:ext cx="2356148" cy="2543392"/>
          </a:xfrm>
          <a:prstGeom prst="rect">
            <a:avLst/>
          </a:prstGeom>
        </p:spPr>
      </p:pic>
      <p:sp>
        <p:nvSpPr>
          <p:cNvPr id="15" name="Rectangle 3">
            <a:extLst>
              <a:ext uri="{FF2B5EF4-FFF2-40B4-BE49-F238E27FC236}">
                <a16:creationId xmlns:a16="http://schemas.microsoft.com/office/drawing/2014/main" id="{DD879AA2-5FE4-48E1-4031-4220C1221C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2200" y="2514600"/>
            <a:ext cx="2451735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Add student marks - 3</a:t>
            </a:r>
          </a:p>
        </p:txBody>
      </p:sp>
    </p:spTree>
    <p:extLst>
      <p:ext uri="{BB962C8B-B14F-4D97-AF65-F5344CB8AC3E}">
        <p14:creationId xmlns:p14="http://schemas.microsoft.com/office/powerpoint/2010/main" val="3381506327"/>
      </p:ext>
    </p:extLst>
  </p:cSld>
  <p:clrMapOvr>
    <a:masterClrMapping/>
  </p:clrMapOvr>
  <p:transition spd="med">
    <p:cover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F6764-D927-A290-BE05-DB6FFE12E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C8688C-E4B0-D8B7-4003-DCA97F22F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714B9-F3E0-1C65-9F9C-C8E55759D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13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11C5F627-390D-F6EF-1B9F-4DE03AC4E1A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816" y="914400"/>
            <a:ext cx="3886200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Display all Student Marks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4E9C070-84B1-E4EA-4203-E4B9228F46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47800"/>
            <a:ext cx="8305800" cy="4639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136420"/>
      </p:ext>
    </p:extLst>
  </p:cSld>
  <p:clrMapOvr>
    <a:masterClrMapping/>
  </p:clrMapOvr>
  <p:transition spd="med">
    <p:cover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C0B07-1C06-58F6-69DE-51A590394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11CA6-0C07-43DA-A08E-7E1891C8E8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- </a:t>
            </a:r>
            <a:r>
              <a:rPr lang="en-US" altLang="en-UG" dirty="0"/>
              <a:t>Display Marks for a Student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A3445E-E85D-71B8-42C5-05CAF25E6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14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F6C101EC-5173-C9E1-8BA4-E84B3FE339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2993072"/>
            <a:ext cx="2339021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Wingdings" panose="05000000000000000000" pitchFamily="2" charset="2"/>
              <a:buNone/>
            </a:pPr>
            <a:r>
              <a:rPr lang="en-US" altLang="en-UG" sz="2500" b="1" dirty="0"/>
              <a:t>Display the </a:t>
            </a:r>
          </a:p>
          <a:p>
            <a:pPr marL="0" indent="0" algn="r">
              <a:buFont typeface="Wingdings" panose="05000000000000000000" pitchFamily="2" charset="2"/>
              <a:buNone/>
            </a:pPr>
            <a:r>
              <a:rPr lang="en-US" altLang="en-UG" sz="2500" b="1" dirty="0"/>
              <a:t>Student’s marks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DD4705-C061-2B1E-EBF9-04D57E7B4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200" y="1219200"/>
            <a:ext cx="3038899" cy="4963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293409"/>
      </p:ext>
    </p:extLst>
  </p:cSld>
  <p:clrMapOvr>
    <a:masterClrMapping/>
  </p:clrMapOvr>
  <p:transition spd="med">
    <p:cover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DA899-4073-7E64-8246-85429872F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4F6ADCD9-B68F-5476-0CAD-695596D658E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en-UG" dirty="0"/>
              <a:t>  Slide 15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C6772F1A-0281-5C69-12B6-CCEDF8A49FB3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11363" y="609600"/>
            <a:ext cx="6399213" cy="1752600"/>
          </a:xfrm>
        </p:spPr>
        <p:txBody>
          <a:bodyPr/>
          <a:lstStyle/>
          <a:p>
            <a:r>
              <a:rPr lang="en-US" altLang="en-UG" dirty="0"/>
              <a:t>Hospital Patient Management System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B62283E5-3FD5-FF1E-BD00-2E8946F472FE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304800" y="2746375"/>
            <a:ext cx="8534400" cy="3730625"/>
          </a:xfrm>
        </p:spPr>
        <p:txBody>
          <a:bodyPr/>
          <a:lstStyle/>
          <a:p>
            <a:pPr marL="630238" indent="-447675" algn="just"/>
            <a:r>
              <a:rPr lang="en-US" altLang="en-UG" sz="17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Doctor Management </a:t>
            </a:r>
            <a:r>
              <a:rPr lang="en-US" altLang="en-UG" sz="17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Add and store doctor details including ID, name, and specialization.</a:t>
            </a:r>
          </a:p>
          <a:p>
            <a:pPr marL="630238" indent="-447675" algn="just"/>
            <a:endParaRPr lang="en-US" altLang="en-UG" sz="17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630238" indent="-447675" algn="just"/>
            <a:r>
              <a:rPr lang="en-US" altLang="en-UG" sz="17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Patient Management </a:t>
            </a:r>
            <a:r>
              <a:rPr lang="en-US" altLang="en-UG" sz="17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Register patients with ID, name, and age.</a:t>
            </a:r>
          </a:p>
          <a:p>
            <a:pPr marL="630238" indent="-447675" algn="just"/>
            <a:endParaRPr lang="en-US" altLang="en-UG" sz="17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630238" indent="-447675" algn="just"/>
            <a:r>
              <a:rPr lang="en-US" altLang="en-UG" sz="17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Appointment Scheduling </a:t>
            </a:r>
            <a:r>
              <a:rPr lang="en-US" altLang="en-UG" sz="17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Create and manage appointments between doctors and patients.</a:t>
            </a:r>
          </a:p>
          <a:p>
            <a:pPr marL="630238" indent="-447675" algn="just"/>
            <a:endParaRPr lang="en-US" altLang="en-UG" sz="17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630238" indent="-447675" algn="just"/>
            <a:r>
              <a:rPr lang="en-US" altLang="en-UG" sz="17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Diagnosis Recording </a:t>
            </a:r>
            <a:r>
              <a:rPr lang="en-US" altLang="en-UG" sz="17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Doctors can record diagnoses for completed appointments.</a:t>
            </a:r>
          </a:p>
          <a:p>
            <a:pPr marL="630238" indent="-447675" algn="just"/>
            <a:endParaRPr lang="en-US" altLang="en-UG" sz="17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630238" indent="-447675" algn="just"/>
            <a:r>
              <a:rPr lang="en-US" altLang="en-UG" sz="17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Billing System </a:t>
            </a:r>
            <a:r>
              <a:rPr lang="en-US" altLang="en-UG" sz="17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Add and update bill items such as treatment or medical services.</a:t>
            </a:r>
          </a:p>
          <a:p>
            <a:pPr marL="630238" indent="-447675" algn="just"/>
            <a:endParaRPr lang="en-US" altLang="en-UG" sz="17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630238" indent="-447675" algn="just"/>
            <a:r>
              <a:rPr lang="en-US" altLang="en-UG" sz="17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Patient History Tracking </a:t>
            </a:r>
            <a:r>
              <a:rPr lang="en-US" altLang="en-UG" sz="17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View a patient's complete medical history including diagnoses and total bills.</a:t>
            </a:r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FF890EEF-4BD3-EED6-0085-35E4E03C0B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381226"/>
            <a:ext cx="1396536" cy="24191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b" anchorCtr="1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G" sz="189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61099221"/>
      </p:ext>
    </p:extLst>
  </p:cSld>
  <p:clrMapOvr>
    <a:masterClrMapping/>
  </p:clrMapOvr>
  <p:transition spd="med">
    <p:cover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E23044-D679-1D14-02EA-A3A972279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3CDAA6-F4D8-3AB5-8005-5F5FE2E3D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– Create Doctor, Create Patient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C822B-D0C7-9884-B5C1-A4DD4CF78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16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95639A88-530E-23E9-031F-E43064A017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816" y="914400"/>
            <a:ext cx="3057952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Create Doctor (1)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B052CD-E58D-AAAF-22D1-5AADAFEC6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816" y="1447800"/>
            <a:ext cx="2544992" cy="2743200"/>
          </a:xfrm>
          <a:prstGeom prst="rect">
            <a:avLst/>
          </a:prstGeom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62209581-6514-6D89-2AD4-44149002A1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7901" y="919480"/>
            <a:ext cx="2544992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Create Doctor (2)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A046D4B-5645-1135-ABD1-C1F6512293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7901" y="1473200"/>
            <a:ext cx="2521847" cy="2743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82E9F44-B82A-B790-ECCE-23476BC242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447800"/>
            <a:ext cx="2545838" cy="2768600"/>
          </a:xfrm>
          <a:prstGeom prst="rect">
            <a:avLst/>
          </a:prstGeom>
        </p:spPr>
      </p:pic>
      <p:sp>
        <p:nvSpPr>
          <p:cNvPr id="12" name="Rectangle 3">
            <a:extLst>
              <a:ext uri="{FF2B5EF4-FFF2-40B4-BE49-F238E27FC236}">
                <a16:creationId xmlns:a16="http://schemas.microsoft.com/office/drawing/2014/main" id="{5D1F7850-CFFA-7E47-BF43-9059F45F3F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70053" y="914400"/>
            <a:ext cx="2544992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Create Patient (1)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7F0A09B-0CF2-B0E7-9B16-86CADA3093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42083" y="4419600"/>
            <a:ext cx="1652155" cy="1828800"/>
          </a:xfrm>
          <a:prstGeom prst="rect">
            <a:avLst/>
          </a:prstGeom>
        </p:spPr>
      </p:pic>
      <p:sp>
        <p:nvSpPr>
          <p:cNvPr id="16" name="Rectangle 3">
            <a:extLst>
              <a:ext uri="{FF2B5EF4-FFF2-40B4-BE49-F238E27FC236}">
                <a16:creationId xmlns:a16="http://schemas.microsoft.com/office/drawing/2014/main" id="{865F8D53-CDE4-07CB-DCE5-4C376F8AED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9748" y="4897120"/>
            <a:ext cx="1295400" cy="685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Wingdings" panose="05000000000000000000" pitchFamily="2" charset="2"/>
              <a:buNone/>
            </a:pPr>
            <a:r>
              <a:rPr lang="en-US" altLang="en-UG" sz="1800" b="1" dirty="0"/>
              <a:t>Create </a:t>
            </a:r>
          </a:p>
          <a:p>
            <a:pPr marL="0" indent="0" algn="r">
              <a:buFont typeface="Wingdings" panose="05000000000000000000" pitchFamily="2" charset="2"/>
              <a:buNone/>
            </a:pPr>
            <a:r>
              <a:rPr lang="en-US" altLang="en-UG" sz="1800" b="1" dirty="0"/>
              <a:t>Patient (2)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D28E6002-E869-5D6F-0B2A-0934B65833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762" y="4455704"/>
            <a:ext cx="3168849" cy="1756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0605392"/>
      </p:ext>
    </p:extLst>
  </p:cSld>
  <p:clrMapOvr>
    <a:masterClrMapping/>
  </p:clrMapOvr>
  <p:transition spd="med">
    <p:cover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3DD31-716C-0495-A64F-8BF72557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FF3B-E984-7955-82DF-95316AB517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– Create Appointment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145049-F326-0C11-8F26-2BFEA33F1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17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B7814D-9F94-5E5F-49CC-3DCA0B01B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845" y="1371600"/>
            <a:ext cx="4618355" cy="356747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AAE062-D25F-F802-BB0B-26DAB840B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925" y="5621189"/>
            <a:ext cx="8305800" cy="627211"/>
          </a:xfrm>
          <a:prstGeom prst="rect">
            <a:avLst/>
          </a:prstGeom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B99AB19E-0E37-8DA9-2927-18A7F364EB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816" y="838200"/>
            <a:ext cx="3057952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Create Appointment 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7684BCC8-4E5E-562C-322A-A412BA016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000" y="5105400"/>
            <a:ext cx="3657600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>
                <a:latin typeface="+mj-lt"/>
              </a:rPr>
              <a:t>View all Appointments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C983E5-E9E6-7CB0-BD0A-FF9B933E37A4}"/>
              </a:ext>
            </a:extLst>
          </p:cNvPr>
          <p:cNvSpPr txBox="1"/>
          <p:nvPr/>
        </p:nvSpPr>
        <p:spPr>
          <a:xfrm>
            <a:off x="5257800" y="1371600"/>
            <a:ext cx="358838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G" sz="1800" dirty="0">
                <a:latin typeface="+mj-lt"/>
              </a:rPr>
              <a:t>Doctor Selection (valid Doctor ID)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G" sz="1800" dirty="0">
                <a:latin typeface="+mj-lt"/>
              </a:rPr>
              <a:t>Patient Identification (A Patient ID is entered and verified)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G" sz="1800" dirty="0">
                <a:latin typeface="+mj-lt"/>
              </a:rPr>
              <a:t>Appointment Details Entry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G" sz="1800" dirty="0">
                <a:latin typeface="+mj-lt"/>
              </a:rPr>
              <a:t>Patient complaint/symptoms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G" sz="1800" dirty="0">
                <a:latin typeface="+mj-lt"/>
              </a:rPr>
              <a:t>Appointment date &amp; time</a:t>
            </a:r>
            <a:endParaRPr lang="en-US" sz="1800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800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G" sz="1800" dirty="0">
              <a:latin typeface="+mj-lt"/>
            </a:endParaRPr>
          </a:p>
          <a:p>
            <a:pPr algn="just"/>
            <a:r>
              <a:rPr lang="en-UG" sz="1800" b="1" dirty="0">
                <a:latin typeface="+mj-lt"/>
              </a:rPr>
              <a:t>Appointment Creation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800" dirty="0">
                <a:latin typeface="+mj-lt"/>
              </a:rPr>
              <a:t>The system automatically generates a unique Appointment ID and saves the appointment with status = Pending.</a:t>
            </a:r>
            <a:endParaRPr lang="en-UG" sz="1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948678423"/>
      </p:ext>
    </p:extLst>
  </p:cSld>
  <p:clrMapOvr>
    <a:masterClrMapping/>
  </p:clrMapOvr>
  <p:transition spd="med">
    <p:cover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E4976-E5DE-000D-F5A8-0656988A4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E1421-088F-A2AE-0C9B-1BD50DCFFE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– Diagnosis &amp; Billing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C2C0FE-5F35-AB13-B33C-C656392FB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18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544E3EE9-7B90-8329-7AB4-7B8FE97279C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7816" y="838200"/>
            <a:ext cx="3588384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>
                <a:latin typeface="+mj-lt"/>
              </a:rPr>
              <a:t>Diagnosis &amp; Billing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6514CF-5500-E1EC-FDF2-D7F93047024D}"/>
              </a:ext>
            </a:extLst>
          </p:cNvPr>
          <p:cNvSpPr txBox="1"/>
          <p:nvPr/>
        </p:nvSpPr>
        <p:spPr>
          <a:xfrm>
            <a:off x="5257800" y="1371600"/>
            <a:ext cx="358838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1700" b="1" dirty="0">
                <a:latin typeface="+mj-lt"/>
              </a:rPr>
              <a:t>Select Appointment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700" dirty="0">
                <a:latin typeface="+mj-lt"/>
              </a:rPr>
              <a:t>The user enters the Appointment ID to access the patient's consultation record.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700" dirty="0">
              <a:latin typeface="+mj-lt"/>
            </a:endParaRPr>
          </a:p>
          <a:p>
            <a:pPr algn="just"/>
            <a:r>
              <a:rPr lang="en-US" sz="1700" b="1" dirty="0">
                <a:latin typeface="+mj-lt"/>
              </a:rPr>
              <a:t>Record Diagnosis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700" dirty="0">
                <a:latin typeface="+mj-lt"/>
              </a:rPr>
              <a:t>The doctor enters the medical diagnosis based on the patient's complaint and examination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700" dirty="0">
              <a:latin typeface="+mj-lt"/>
            </a:endParaRPr>
          </a:p>
          <a:p>
            <a:pPr algn="just"/>
            <a:r>
              <a:rPr lang="en-US" sz="1700" b="1" dirty="0">
                <a:latin typeface="+mj-lt"/>
              </a:rPr>
              <a:t>Add Medical Bill Items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700" dirty="0">
                <a:latin typeface="+mj-lt"/>
              </a:rPr>
              <a:t>The system records all services provided during treatment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700" dirty="0">
              <a:latin typeface="+mj-lt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700" dirty="0">
                <a:latin typeface="+mj-lt"/>
              </a:rPr>
              <a:t>Enter Cost for Each Item. Each bill item has an associated amount, which is stored in the billing file.</a:t>
            </a:r>
            <a:endParaRPr lang="en-UG" sz="1700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C93239-333F-ECF7-DF17-F823A9917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447799"/>
            <a:ext cx="4708698" cy="4648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33006"/>
      </p:ext>
    </p:extLst>
  </p:cSld>
  <p:clrMapOvr>
    <a:masterClrMapping/>
  </p:clrMapOvr>
  <p:transition spd="med">
    <p:cover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A941B-AF12-4885-23BF-2C37D4E3F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68E18-3DE7-AFF8-0E72-84512FA01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– View Patient History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171318-558A-B2E6-932A-93D75D3EA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19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58030987-EE21-90ED-9138-083265E633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013" y="1471612"/>
            <a:ext cx="3057952" cy="533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>
                <a:latin typeface="+mj-lt"/>
              </a:rPr>
              <a:t>Patient History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6B6825-0ECA-3FDC-5A57-31CBDA492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013" y="2055812"/>
            <a:ext cx="85344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4143203"/>
      </p:ext>
    </p:extLst>
  </p:cSld>
  <p:clrMapOvr>
    <a:masterClrMapping/>
  </p:clrMapOvr>
  <p:transition spd="med">
    <p:cover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E7F91-F351-BBAF-7D70-E68738994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7CC27-277E-43D4-41C9-03DA5CE45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– Update Bill items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82AC01-9850-8C06-EA50-158C6A7CFA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20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0F1C66EA-F38C-295D-41E5-0F0A570970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63612" y="2400905"/>
            <a:ext cx="3057952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Font typeface="Wingdings" panose="05000000000000000000" pitchFamily="2" charset="2"/>
              <a:buNone/>
            </a:pPr>
            <a:r>
              <a:rPr lang="en-US" altLang="en-UG" sz="2500" b="1" dirty="0">
                <a:latin typeface="+mj-lt"/>
              </a:rPr>
              <a:t>Update Bill items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7A284C-A65B-C1FE-2577-A5A0852D3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7400" y="871692"/>
            <a:ext cx="2971800" cy="39728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0806B4A-76FB-1109-0AEF-0C3FAF0BE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13" y="4954211"/>
            <a:ext cx="8683625" cy="1418014"/>
          </a:xfrm>
          <a:prstGeom prst="rect">
            <a:avLst/>
          </a:prstGeom>
        </p:spPr>
      </p:pic>
      <p:sp>
        <p:nvSpPr>
          <p:cNvPr id="9" name="Rectangle 3">
            <a:extLst>
              <a:ext uri="{FF2B5EF4-FFF2-40B4-BE49-F238E27FC236}">
                <a16:creationId xmlns:a16="http://schemas.microsoft.com/office/drawing/2014/main" id="{A767876F-EA05-758B-0714-42282B59AD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" y="4572000"/>
            <a:ext cx="40401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000" b="1" dirty="0">
                <a:latin typeface="+mj-lt"/>
              </a:rPr>
              <a:t>Patient History – Bill item updated</a:t>
            </a:r>
          </a:p>
        </p:txBody>
      </p:sp>
    </p:spTree>
    <p:extLst>
      <p:ext uri="{BB962C8B-B14F-4D97-AF65-F5344CB8AC3E}">
        <p14:creationId xmlns:p14="http://schemas.microsoft.com/office/powerpoint/2010/main" val="439145554"/>
      </p:ext>
    </p:extLst>
  </p:cSld>
  <p:clrMapOvr>
    <a:masterClrMapping/>
  </p:clrMapOvr>
  <p:transition spd="med">
    <p:cover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7EC39-B2B3-3DB8-25D3-DC2352DDD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C305482C-65E9-A882-21B9-DFD71678B778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en-UG" dirty="0"/>
              <a:t>  Slide 21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2DC9C06D-3109-55AD-68C4-E17077501430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11363" y="609600"/>
            <a:ext cx="6399213" cy="1752600"/>
          </a:xfrm>
        </p:spPr>
        <p:txBody>
          <a:bodyPr/>
          <a:lstStyle/>
          <a:p>
            <a:r>
              <a:rPr lang="en-US" altLang="en-UG" dirty="0"/>
              <a:t>Pharmacy Inventory System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A2B13E0C-0212-89D9-A5A3-E2074B7754C3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76200" y="2667000"/>
            <a:ext cx="4876800" cy="3730625"/>
          </a:xfrm>
        </p:spPr>
        <p:txBody>
          <a:bodyPr/>
          <a:lstStyle/>
          <a:p>
            <a:pPr marL="468313" indent="-285750" algn="just"/>
            <a:r>
              <a:rPr lang="en-US" altLang="en-UG" sz="16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Medicine Management</a:t>
            </a:r>
          </a:p>
          <a:p>
            <a:pPr marL="468313" indent="-285750" algn="just">
              <a:buFont typeface="Wingdings" panose="05000000000000000000" pitchFamily="2" charset="2"/>
              <a:buChar char="ü"/>
            </a:pPr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Add new medicines with ID, name, quantity, price, and expiry date; Store records in a file</a:t>
            </a:r>
          </a:p>
          <a:p>
            <a:pPr marL="182563" indent="0" algn="just">
              <a:buNone/>
            </a:pPr>
            <a:endParaRPr lang="en-US" altLang="en-UG" sz="16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68313" indent="-285750" algn="just"/>
            <a:r>
              <a:rPr lang="en-US" altLang="en-UG" sz="16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Stock Control</a:t>
            </a:r>
          </a:p>
          <a:p>
            <a:pPr marL="468313" indent="-285750" algn="just">
              <a:buFont typeface="Wingdings" panose="05000000000000000000" pitchFamily="2" charset="2"/>
              <a:buChar char="ü"/>
            </a:pPr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Refill medicine stock when inventory is low</a:t>
            </a:r>
          </a:p>
          <a:p>
            <a:pPr marL="468313" indent="-285750" algn="just">
              <a:buFont typeface="Wingdings" panose="05000000000000000000" pitchFamily="2" charset="2"/>
              <a:buChar char="ü"/>
            </a:pPr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Automatically highlights low stock items (≤5 units)</a:t>
            </a:r>
          </a:p>
          <a:p>
            <a:pPr marL="182563" indent="0" algn="just">
              <a:buNone/>
            </a:pPr>
            <a:endParaRPr lang="en-US" altLang="en-UG" sz="16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68313" indent="-285750" algn="just"/>
            <a:r>
              <a:rPr lang="en-US" altLang="en-UG" sz="16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Sales &amp; POS System</a:t>
            </a:r>
          </a:p>
          <a:p>
            <a:pPr marL="468313" indent="-285750" algn="just">
              <a:buFont typeface="Wingdings" panose="05000000000000000000" pitchFamily="2" charset="2"/>
              <a:buChar char="ü"/>
            </a:pPr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Allows selling multiple medicines in one transaction</a:t>
            </a:r>
          </a:p>
          <a:p>
            <a:pPr marL="468313" indent="-285750" algn="just">
              <a:buFont typeface="Wingdings" panose="05000000000000000000" pitchFamily="2" charset="2"/>
              <a:buChar char="ü"/>
            </a:pPr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Calculates subtotal and grand total &amp; Updates inventory after purchase</a:t>
            </a:r>
          </a:p>
          <a:p>
            <a:pPr marL="468313" indent="-285750" algn="just">
              <a:buFont typeface="Wingdings" panose="05000000000000000000" pitchFamily="2" charset="2"/>
              <a:buChar char="ü"/>
            </a:pPr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Generates printed receipt with date and purchased items</a:t>
            </a:r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094D8574-72DB-1C28-8B8E-5F4D694392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381226"/>
            <a:ext cx="1396536" cy="24191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b" anchorCtr="1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G" sz="189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6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8F0D4784-41EC-6244-81BF-C6A2E9424E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41449" y="3562350"/>
            <a:ext cx="3581400" cy="25336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914400" indent="-9144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SzPct val="125000"/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68313" indent="-285750" algn="just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Expiry Monitoring</a:t>
            </a:r>
          </a:p>
          <a:p>
            <a:pPr marL="468313" indent="-285750" algn="just">
              <a:buFont typeface="Wingdings" panose="05000000000000000000" pitchFamily="2" charset="2"/>
              <a:buChar char="ü"/>
            </a:pPr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Checks medicines against today's date</a:t>
            </a:r>
          </a:p>
          <a:p>
            <a:pPr marL="468313" indent="-285750" algn="just">
              <a:buFont typeface="Wingdings" panose="05000000000000000000" pitchFamily="2" charset="2"/>
              <a:buChar char="ü"/>
            </a:pPr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Displays expired medicines to prevent unsafe sales</a:t>
            </a:r>
          </a:p>
          <a:p>
            <a:pPr marL="182563" indent="0" algn="just">
              <a:buFont typeface="Wingdings" panose="05000000000000000000" pitchFamily="2" charset="2"/>
              <a:buNone/>
            </a:pPr>
            <a:endParaRPr lang="en-US" altLang="en-UG" sz="16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68313" indent="-285750" algn="just"/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Sales Tracking</a:t>
            </a:r>
          </a:p>
          <a:p>
            <a:pPr marL="468313" indent="-285750" algn="just">
              <a:buFont typeface="Wingdings" panose="05000000000000000000" pitchFamily="2" charset="2"/>
              <a:buChar char="ü"/>
            </a:pPr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Stores every transaction</a:t>
            </a:r>
          </a:p>
          <a:p>
            <a:pPr marL="468313" indent="-285750" algn="just">
              <a:buFont typeface="Wingdings" panose="05000000000000000000" pitchFamily="2" charset="2"/>
              <a:buChar char="ü"/>
            </a:pPr>
            <a:r>
              <a:rPr lang="en-US" altLang="en-UG" sz="16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Calculates total pharmacy revenue</a:t>
            </a:r>
          </a:p>
        </p:txBody>
      </p:sp>
    </p:spTree>
    <p:extLst>
      <p:ext uri="{BB962C8B-B14F-4D97-AF65-F5344CB8AC3E}">
        <p14:creationId xmlns:p14="http://schemas.microsoft.com/office/powerpoint/2010/main" val="2988139587"/>
      </p:ext>
    </p:extLst>
  </p:cSld>
  <p:clrMapOvr>
    <a:masterClrMapping/>
  </p:clrMapOvr>
  <p:transition spd="med">
    <p:cover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390D7-D857-F0BD-B3E2-BE4039A44F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CEE8E-E806-72C8-6FCB-9DA2B303CD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- </a:t>
            </a:r>
            <a:r>
              <a:rPr lang="en-US" altLang="en-UG" dirty="0"/>
              <a:t>Add Medicine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92DEC7-A438-476D-F5A2-22EE6DC0B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22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AFC550B8-3E3E-1F19-F4BB-5C55C0EA977A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685800" y="838200"/>
            <a:ext cx="3289935" cy="360204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Add Medicine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25C583C-1E01-6307-7422-624FEC4774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274604"/>
            <a:ext cx="5257800" cy="4858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689033"/>
      </p:ext>
    </p:extLst>
  </p:cSld>
  <p:clrMapOvr>
    <a:masterClrMapping/>
  </p:clrMapOvr>
  <p:transition spd="med">
    <p:cover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FCC47-9CD1-52D2-3DC8-2F195BBC4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CAC760-B365-4D8C-C925-177C17957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- </a:t>
            </a:r>
            <a:r>
              <a:rPr lang="en-US" altLang="en-UG" dirty="0"/>
              <a:t>Display Inventory, Check Expiry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00094-2F73-0979-9321-9E4256EA1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23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BF442027-F597-D841-560D-13C4AA0B5E4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91465" y="838200"/>
            <a:ext cx="3289935" cy="360204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Display Inventory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E258CB-E2B6-AD4F-4286-EE01522C82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371600"/>
            <a:ext cx="4333103" cy="29055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B477C08-BD40-5190-6FC6-F31AD39912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1371600"/>
            <a:ext cx="3820058" cy="2905530"/>
          </a:xfrm>
          <a:prstGeom prst="rect">
            <a:avLst/>
          </a:prstGeom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C8B0D76C-989E-59BF-63D2-2381CE168F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63465" y="914400"/>
            <a:ext cx="3289935" cy="3602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Check Expiry</a:t>
            </a:r>
          </a:p>
        </p:txBody>
      </p:sp>
    </p:spTree>
    <p:extLst>
      <p:ext uri="{BB962C8B-B14F-4D97-AF65-F5344CB8AC3E}">
        <p14:creationId xmlns:p14="http://schemas.microsoft.com/office/powerpoint/2010/main" val="4039740355"/>
      </p:ext>
    </p:extLst>
  </p:cSld>
  <p:clrMapOvr>
    <a:masterClrMapping/>
  </p:clrMapOvr>
  <p:transition spd="med">
    <p:cover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0E033-61F3-0363-9E01-4C75AD9EF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BB2C6-647F-2161-1473-212EA47FE5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- </a:t>
            </a:r>
            <a:r>
              <a:rPr lang="en-US" altLang="en-UG" dirty="0"/>
              <a:t>Sell Medicine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EE7D7-185F-27A9-4288-A827F326FC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24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0454BAC8-603A-056D-73C4-4EC89709515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011363" y="1600200"/>
            <a:ext cx="2326315" cy="457200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Sell Medicine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E7D389-7AB3-E41C-4E41-873F993205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878205"/>
            <a:ext cx="3452018" cy="54438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958D9FD-9579-8FF1-529D-D10FC95C2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363" y="2362200"/>
            <a:ext cx="2844180" cy="1659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0673149"/>
      </p:ext>
    </p:extLst>
  </p:cSld>
  <p:clrMapOvr>
    <a:masterClrMapping/>
  </p:clrMapOvr>
  <p:transition spd="med">
    <p:cover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40366-096B-F18D-0AF7-859EEBCDC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818126-3E96-B766-B329-CC98B2F6FC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– </a:t>
            </a:r>
            <a:r>
              <a:rPr lang="en-US" altLang="en-UG" dirty="0"/>
              <a:t>Stock Refill, Show Total Sales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8EAA62-FCC0-D4B8-02DC-091CC4B71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25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8D60217D-BB18-D42C-C962-C230A817592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34465" y="914400"/>
            <a:ext cx="3289935" cy="360204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500" b="1" dirty="0"/>
              <a:t>Stock Refill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FCB2881D-C7C6-3693-2987-22D2BA4C77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7600" y="914400"/>
            <a:ext cx="3289935" cy="3602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Check Inventory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A52ADE-AF0B-4D05-9BDA-618BAD646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677" y="1427004"/>
            <a:ext cx="3329723" cy="329739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1F43EE6-399D-ADA7-916C-E93EE9EE9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3800" y="1371600"/>
            <a:ext cx="5029902" cy="177189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834B43B-F2D5-0809-524F-0C6D31A0D7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0465" y="4240777"/>
            <a:ext cx="5018158" cy="1169423"/>
          </a:xfrm>
          <a:prstGeom prst="rect">
            <a:avLst/>
          </a:prstGeom>
        </p:spPr>
      </p:pic>
      <p:sp>
        <p:nvSpPr>
          <p:cNvPr id="14" name="Rectangle 3">
            <a:extLst>
              <a:ext uri="{FF2B5EF4-FFF2-40B4-BE49-F238E27FC236}">
                <a16:creationId xmlns:a16="http://schemas.microsoft.com/office/drawing/2014/main" id="{257F7A98-00AE-9E7B-B7C8-7F31DB5AD1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33800" y="3810000"/>
            <a:ext cx="3289935" cy="3602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500" b="1" dirty="0"/>
              <a:t>Show Total Sales</a:t>
            </a:r>
          </a:p>
        </p:txBody>
      </p:sp>
    </p:spTree>
    <p:extLst>
      <p:ext uri="{BB962C8B-B14F-4D97-AF65-F5344CB8AC3E}">
        <p14:creationId xmlns:p14="http://schemas.microsoft.com/office/powerpoint/2010/main" val="3377269703"/>
      </p:ext>
    </p:extLst>
  </p:cSld>
  <p:clrMapOvr>
    <a:masterClrMapping/>
  </p:clrMapOvr>
  <p:transition spd="med">
    <p:cover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43467-3C77-0277-80E3-D51E990E5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949AA812-C8E1-921D-6938-13131B40201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en-UG" dirty="0"/>
              <a:t>  Slide 26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3D2C1B9E-4311-2BE8-D771-330197C3D25E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11363" y="609600"/>
            <a:ext cx="6399213" cy="1752600"/>
          </a:xfrm>
        </p:spPr>
        <p:txBody>
          <a:bodyPr/>
          <a:lstStyle/>
          <a:p>
            <a:r>
              <a:rPr lang="en-US" altLang="en-UG" dirty="0"/>
              <a:t>Bus Reservation System 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1EEF1337-89BD-67E5-46E5-B3CE6666FC4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838200" y="2800351"/>
            <a:ext cx="8001000" cy="3597274"/>
          </a:xfrm>
        </p:spPr>
        <p:txBody>
          <a:bodyPr/>
          <a:lstStyle/>
          <a:p>
            <a:pPr marL="468313" indent="-468313" algn="just"/>
            <a:r>
              <a:rPr lang="en-US" altLang="en-UG" sz="17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View Seat Layout </a:t>
            </a:r>
            <a:r>
              <a:rPr lang="en-US" altLang="en-UG" sz="17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Displays a 10 × 4 bus seating arrangement showing available and booked seats.</a:t>
            </a:r>
          </a:p>
          <a:p>
            <a:pPr marL="468313" indent="-468313" algn="just"/>
            <a:endParaRPr lang="en-US" altLang="en-UG" sz="17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68313" indent="-468313" algn="just"/>
            <a:r>
              <a:rPr lang="en-US" altLang="en-UG" sz="17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Book Seat </a:t>
            </a:r>
            <a:r>
              <a:rPr lang="en-US" altLang="en-UG" sz="17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Passenger selects row and seat number and enters their name. The booking is saved to a file.</a:t>
            </a:r>
          </a:p>
          <a:p>
            <a:pPr marL="468313" indent="-468313" algn="just"/>
            <a:endParaRPr lang="en-US" altLang="en-UG" sz="17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68313" indent="-468313" algn="just"/>
            <a:r>
              <a:rPr lang="en-US" altLang="en-UG" sz="17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Cancel Booking </a:t>
            </a:r>
            <a:r>
              <a:rPr lang="en-US" altLang="en-UG" sz="17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Allows cancellation of a booked seat and updates the booking file.</a:t>
            </a:r>
          </a:p>
          <a:p>
            <a:pPr marL="468313" indent="-468313" algn="just"/>
            <a:endParaRPr lang="en-US" altLang="en-UG" sz="17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68313" indent="-468313" algn="just"/>
            <a:r>
              <a:rPr lang="en-US" altLang="en-UG" sz="17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Display Passenger List </a:t>
            </a:r>
            <a:r>
              <a:rPr lang="en-US" altLang="en-UG" sz="17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Shows all passengers with their seat numbers.</a:t>
            </a:r>
          </a:p>
          <a:p>
            <a:pPr marL="468313" indent="-468313" algn="just"/>
            <a:endParaRPr lang="en-US" altLang="en-UG" sz="17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468313" indent="-468313" algn="just"/>
            <a:r>
              <a:rPr lang="en-US" altLang="en-UG" sz="17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Persistent Storage </a:t>
            </a:r>
            <a:r>
              <a:rPr lang="en-US" altLang="en-UG" sz="17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Uses a binary file to store bookings permanently.</a:t>
            </a:r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2D1EAAC1-44A1-7B26-936C-ECA4364936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381226"/>
            <a:ext cx="1396536" cy="24191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b" anchorCtr="1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G" sz="189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819890320"/>
      </p:ext>
    </p:extLst>
  </p:cSld>
  <p:clrMapOvr>
    <a:masterClrMapping/>
  </p:clrMapOvr>
  <p:transition spd="med">
    <p:cover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870CBA-C813-AE30-1C99-608CDDD0B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1F901-074E-03DB-676D-D651D9A15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– Book a Seat, </a:t>
            </a:r>
            <a:r>
              <a:rPr lang="en-US" altLang="en-UG" dirty="0"/>
              <a:t>Seat Layout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BBF4F4-E9E6-73AF-0865-67BDC59C6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27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D3FED5F-F5A1-98A8-B88F-CE4B2B67F574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04800" y="1143000"/>
            <a:ext cx="2326315" cy="457200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000" b="1" dirty="0"/>
              <a:t>View Seat Layout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C2CE8BD-DAE8-EDD3-BEED-E798BF127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0704"/>
            <a:ext cx="2514951" cy="4058216"/>
          </a:xfrm>
          <a:prstGeom prst="rect">
            <a:avLst/>
          </a:prstGeom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BA1329A6-E114-8C3D-E74E-FF19BC16B0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0400" y="1143000"/>
            <a:ext cx="232631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000" b="1" dirty="0"/>
              <a:t>Book a Seat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19BE5B7B-0462-1B7C-BAF8-92C9A87E75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7000" y="1066800"/>
            <a:ext cx="247871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000" b="1" dirty="0"/>
              <a:t>New - Seat Layout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8F38F20-1613-99C6-97EE-6F2DC038A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6600" y="1515144"/>
            <a:ext cx="2929594" cy="442845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8118747-2481-F093-E0EE-87661C5C33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1024" y="1498599"/>
            <a:ext cx="2278176" cy="3918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381253"/>
      </p:ext>
    </p:extLst>
  </p:cSld>
  <p:clrMapOvr>
    <a:masterClrMapping/>
  </p:clrMapOvr>
  <p:transition spd="med">
    <p:cover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00E5D-A4F0-DC1D-7705-05BA0F917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0644F-2A05-0B43-B85B-76F7B9167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–Passenger List, Cancel Booking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FEA92-9470-895F-048A-A820F33EE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28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2379D029-8954-3FEF-2CC1-7777120F1673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228600" y="1143000"/>
            <a:ext cx="2326315" cy="457200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000" b="1" dirty="0"/>
              <a:t>Passenger List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BDD86B3A-1370-5828-FC78-7B19C9C5F8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1400" y="1143000"/>
            <a:ext cx="247871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000" b="1" dirty="0"/>
              <a:t>Cancel Booking (10, 4)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CD9DFB-AB22-E092-9302-5BAE3EEA3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619043"/>
            <a:ext cx="3147569" cy="23798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1ED6D-4B6B-8359-DB5B-674985545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1400" y="1628523"/>
            <a:ext cx="2316683" cy="3019677"/>
          </a:xfrm>
          <a:prstGeom prst="rect">
            <a:avLst/>
          </a:prstGeom>
        </p:spPr>
      </p:pic>
      <p:sp>
        <p:nvSpPr>
          <p:cNvPr id="12" name="Rectangle 3">
            <a:extLst>
              <a:ext uri="{FF2B5EF4-FFF2-40B4-BE49-F238E27FC236}">
                <a16:creationId xmlns:a16="http://schemas.microsoft.com/office/drawing/2014/main" id="{08B534D5-7C20-249B-74C6-23E19F083B6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53200" y="1143000"/>
            <a:ext cx="247871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000" b="1" dirty="0"/>
              <a:t>New - Seat Layout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B450E85-A76F-DBA8-17E4-D6E8E67B0C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7231" y="1628523"/>
            <a:ext cx="2260107" cy="2704717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8432CDC-A476-7A73-638F-0B91A893AA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1069" y="4781335"/>
            <a:ext cx="3896269" cy="1543265"/>
          </a:xfrm>
          <a:prstGeom prst="rect">
            <a:avLst/>
          </a:prstGeom>
        </p:spPr>
      </p:pic>
      <p:sp>
        <p:nvSpPr>
          <p:cNvPr id="19" name="Rectangle 3">
            <a:extLst>
              <a:ext uri="{FF2B5EF4-FFF2-40B4-BE49-F238E27FC236}">
                <a16:creationId xmlns:a16="http://schemas.microsoft.com/office/drawing/2014/main" id="{55D48981-2400-7F81-81C7-9C82F96B8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3917" y="5334000"/>
            <a:ext cx="231668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000" b="1" dirty="0"/>
              <a:t>New - Passenger List</a:t>
            </a:r>
          </a:p>
        </p:txBody>
      </p:sp>
    </p:spTree>
    <p:extLst>
      <p:ext uri="{BB962C8B-B14F-4D97-AF65-F5344CB8AC3E}">
        <p14:creationId xmlns:p14="http://schemas.microsoft.com/office/powerpoint/2010/main" val="3449684708"/>
      </p:ext>
    </p:extLst>
  </p:cSld>
  <p:clrMapOvr>
    <a:masterClrMapping/>
  </p:clrMapOvr>
  <p:transition spd="med">
    <p:cover dir="u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D1A07-EFBB-AB7B-EF92-C5F620531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0CD4B08B-A1D6-1C91-789C-FBD7632A18B1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US" altLang="en-UG" dirty="0"/>
              <a:t>  Slide 29</a:t>
            </a:r>
          </a:p>
        </p:txBody>
      </p:sp>
      <p:sp>
        <p:nvSpPr>
          <p:cNvPr id="2050" name="Rectangle 2">
            <a:extLst>
              <a:ext uri="{FF2B5EF4-FFF2-40B4-BE49-F238E27FC236}">
                <a16:creationId xmlns:a16="http://schemas.microsoft.com/office/drawing/2014/main" id="{D205D7FC-162C-AC2F-3811-087F8D6441E2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2011363" y="609600"/>
            <a:ext cx="6399213" cy="1752600"/>
          </a:xfrm>
        </p:spPr>
        <p:txBody>
          <a:bodyPr/>
          <a:lstStyle/>
          <a:p>
            <a:r>
              <a:rPr lang="en-US" altLang="en-UG" dirty="0"/>
              <a:t>Vehicle Fleet Management System</a:t>
            </a:r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66197BC4-10F8-AED5-5CC9-EEDC5840DD7B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457200" y="2800350"/>
            <a:ext cx="8382000" cy="3752849"/>
          </a:xfrm>
        </p:spPr>
        <p:txBody>
          <a:bodyPr/>
          <a:lstStyle/>
          <a:p>
            <a:pPr marL="538163" indent="-538163" algn="just"/>
            <a:r>
              <a:rPr lang="en-US" altLang="en-UG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Add Vehicle </a:t>
            </a:r>
            <a:r>
              <a:rPr lang="en-US" altLang="en-UG" sz="20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Records vehicle ID, type, mileage, and fuel usage.</a:t>
            </a:r>
          </a:p>
          <a:p>
            <a:pPr marL="538163" indent="-538163" algn="just"/>
            <a:endParaRPr lang="en-US" altLang="en-UG" sz="20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538163" indent="-538163" algn="just"/>
            <a:r>
              <a:rPr lang="en-US" altLang="en-UG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Record Maintenance </a:t>
            </a:r>
            <a:r>
              <a:rPr lang="en-US" altLang="en-UG" sz="20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Updates vehicle mileage after maintenance.</a:t>
            </a:r>
          </a:p>
          <a:p>
            <a:pPr marL="538163" indent="-538163" algn="just"/>
            <a:endParaRPr lang="en-US" altLang="en-UG" sz="20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538163" indent="-538163" algn="just"/>
            <a:r>
              <a:rPr lang="en-US" altLang="en-UG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Track Fuel Usage </a:t>
            </a:r>
            <a:r>
              <a:rPr lang="en-US" altLang="en-UG" sz="20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Records fuel consumption for each vehicle.</a:t>
            </a:r>
          </a:p>
          <a:p>
            <a:pPr marL="538163" indent="-538163" algn="just"/>
            <a:endParaRPr lang="en-US" altLang="en-UG" sz="20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538163" indent="-538163" algn="just"/>
            <a:r>
              <a:rPr lang="en-US" altLang="en-UG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Maintenance Alert </a:t>
            </a:r>
            <a:r>
              <a:rPr lang="en-US" altLang="en-UG" sz="20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Identifies vehicles that exceed a mileage threshold and need servicing.</a:t>
            </a:r>
          </a:p>
          <a:p>
            <a:pPr marL="538163" indent="-538163" algn="just"/>
            <a:endParaRPr lang="en-US" altLang="en-UG" sz="2000" dirty="0">
              <a:effectLst>
                <a:outerShdw blurRad="38100" dist="38100" dir="2700000" algn="tl">
                  <a:srgbClr val="000000"/>
                </a:outerShdw>
              </a:effectLst>
            </a:endParaRPr>
          </a:p>
          <a:p>
            <a:pPr marL="538163" indent="-538163" algn="just"/>
            <a:r>
              <a:rPr lang="en-US" altLang="en-UG" sz="2000" b="1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Display Fleet </a:t>
            </a:r>
            <a:r>
              <a:rPr lang="en-US" altLang="en-UG" sz="2000" dirty="0">
                <a:effectLst>
                  <a:outerShdw blurRad="38100" dist="38100" dir="2700000" algn="tl">
                    <a:srgbClr val="000000"/>
                  </a:outerShdw>
                </a:effectLst>
              </a:rPr>
              <a:t>– Shows all vehicles with their mileage and fuel usage.</a:t>
            </a:r>
          </a:p>
        </p:txBody>
      </p:sp>
      <p:sp>
        <p:nvSpPr>
          <p:cNvPr id="2052" name="Text Box 4">
            <a:extLst>
              <a:ext uri="{FF2B5EF4-FFF2-40B4-BE49-F238E27FC236}">
                <a16:creationId xmlns:a16="http://schemas.microsoft.com/office/drawing/2014/main" id="{28038634-C0FC-8826-BCC1-C57EAAFFFC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8025" y="381226"/>
            <a:ext cx="1396536" cy="24191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b" anchorCtr="1">
            <a:spAutoFit/>
          </a:bodyPr>
          <a:lstStyle/>
          <a:p>
            <a:pPr>
              <a:lnSpc>
                <a:spcPct val="80000"/>
              </a:lnSpc>
            </a:pPr>
            <a:r>
              <a:rPr lang="en-US" altLang="en-UG" sz="18900" b="1" dirty="0">
                <a:solidFill>
                  <a:srgbClr val="FF0000"/>
                </a:solidFill>
                <a:effectLst>
                  <a:outerShdw blurRad="38100" dist="38100" dir="2700000" algn="tl">
                    <a:srgbClr val="000000"/>
                  </a:outerShdw>
                </a:effectLst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82719669"/>
      </p:ext>
    </p:extLst>
  </p:cSld>
  <p:clrMapOvr>
    <a:masterClrMapping/>
  </p:clrMapOvr>
  <p:transition spd="med">
    <p:cover dir="u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ED3F7-F1EE-547E-4186-CF135FEBF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4B2F44-14DA-60C2-8254-A21F5AC72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BDAF74-37EA-6F7F-CBD6-A31E9902A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30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81328699-80C3-B8CA-3413-EFA1D7FC6A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04800" y="1143000"/>
            <a:ext cx="2326315" cy="457200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000" b="1" dirty="0"/>
              <a:t>Add Vehicle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520689AC-1474-1DE5-0BA2-6FF489A589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83683" y="1173480"/>
            <a:ext cx="247871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000" b="1" dirty="0"/>
              <a:t>Record Maintenance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A02090-8F44-EFA0-A386-0BFE90994F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92" y="1600200"/>
            <a:ext cx="3162741" cy="255305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33872A7-9D03-1A28-B5C2-310D5DFBF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26" y="4959266"/>
            <a:ext cx="6906589" cy="1200318"/>
          </a:xfrm>
          <a:prstGeom prst="rect">
            <a:avLst/>
          </a:prstGeom>
        </p:spPr>
      </p:pic>
      <p:sp>
        <p:nvSpPr>
          <p:cNvPr id="11" name="Rectangle 3">
            <a:extLst>
              <a:ext uri="{FF2B5EF4-FFF2-40B4-BE49-F238E27FC236}">
                <a16:creationId xmlns:a16="http://schemas.microsoft.com/office/drawing/2014/main" id="{75C49DC8-9086-8454-D251-27044D596E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9992" y="4552866"/>
            <a:ext cx="2478715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000" b="1" dirty="0"/>
              <a:t>Display All Vehicles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890ED02-3EBB-B481-0D5D-77DCEA2F2D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4158" y="1615440"/>
            <a:ext cx="4696480" cy="2257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287969"/>
      </p:ext>
    </p:extLst>
  </p:cSld>
  <p:clrMapOvr>
    <a:masterClrMapping/>
  </p:clrMapOvr>
  <p:transition spd="med">
    <p:cover dir="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AE5FF-7815-7498-C9FB-CD6CEF435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0AC67-75E0-9C15-2E0D-3489A74994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3" y="76200"/>
            <a:ext cx="8683625" cy="685800"/>
          </a:xfrm>
        </p:spPr>
        <p:txBody>
          <a:bodyPr/>
          <a:lstStyle/>
          <a:p>
            <a:r>
              <a:rPr lang="en-US" dirty="0"/>
              <a:t>Actions 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F6D626-5C2F-75AC-1C0D-A17DB820F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31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3961F1FC-6A13-32BE-2807-1AA3C7A6FC0B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04800" y="1143000"/>
            <a:ext cx="3124200" cy="457200"/>
          </a:xfrm>
        </p:spPr>
        <p:txBody>
          <a:bodyPr/>
          <a:lstStyle/>
          <a:p>
            <a:pPr marL="0" indent="0">
              <a:buNone/>
            </a:pPr>
            <a:r>
              <a:rPr lang="en-US" altLang="en-UG" sz="2000" b="1" dirty="0"/>
              <a:t>Generate Maintenance Alert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29F0D2-AD83-4D29-60D8-EEF18BC9E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595" y="1600201"/>
            <a:ext cx="4556502" cy="228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D515B9F-66DA-7BDB-9567-A784B18A7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0200" y="1600200"/>
            <a:ext cx="3362794" cy="2229161"/>
          </a:xfrm>
          <a:prstGeom prst="rect">
            <a:avLst/>
          </a:prstGeom>
        </p:spPr>
      </p:pic>
      <p:sp>
        <p:nvSpPr>
          <p:cNvPr id="12" name="Rectangle 3">
            <a:extLst>
              <a:ext uri="{FF2B5EF4-FFF2-40B4-BE49-F238E27FC236}">
                <a16:creationId xmlns:a16="http://schemas.microsoft.com/office/drawing/2014/main" id="{098CD85C-CF66-0177-D31F-483E1356F6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0" y="1143000"/>
            <a:ext cx="31242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l" rtl="0" fontAlgn="base">
              <a:spcBef>
                <a:spcPct val="20000"/>
              </a:spcBef>
              <a:spcAft>
                <a:spcPct val="0"/>
              </a:spcAft>
              <a:buClr>
                <a:srgbClr val="008000"/>
              </a:buClr>
              <a:buFont typeface="Wingdings" panose="05000000000000000000" pitchFamily="2" charset="2"/>
              <a:buChar char="l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Font typeface="Wingdings" panose="05000000000000000000" pitchFamily="2" charset="2"/>
              <a:buChar char="l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Font typeface="Wingdings" panose="05000000000000000000" pitchFamily="2" charset="2"/>
              <a:buChar char="l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fontAlgn="base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Font typeface="Wingdings" panose="05000000000000000000" pitchFamily="2" charset="2"/>
              <a:buChar char="l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altLang="en-UG" sz="2000" b="1" dirty="0"/>
              <a:t>Record Fuel Usage</a:t>
            </a:r>
          </a:p>
        </p:txBody>
      </p:sp>
    </p:spTree>
    <p:extLst>
      <p:ext uri="{BB962C8B-B14F-4D97-AF65-F5344CB8AC3E}">
        <p14:creationId xmlns:p14="http://schemas.microsoft.com/office/powerpoint/2010/main" val="7102917"/>
      </p:ext>
    </p:extLst>
  </p:cSld>
  <p:clrMapOvr>
    <a:masterClrMapping/>
  </p:clrMapOvr>
  <p:transition spd="med">
    <p:cover dir="u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EB1AE-B8A1-014E-FAB0-85D945437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03C6E-1087-CF1D-1F24-06986CD45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905000"/>
            <a:ext cx="8229600" cy="685800"/>
          </a:xfrm>
        </p:spPr>
        <p:txBody>
          <a:bodyPr/>
          <a:lstStyle/>
          <a:p>
            <a:pPr algn="ctr"/>
            <a:r>
              <a:rPr lang="en-US" dirty="0"/>
              <a:t>END</a:t>
            </a:r>
            <a:endParaRPr lang="en-U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347C5-D55C-7EB5-3CC5-C4B18D61E4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397625"/>
            <a:ext cx="2011363" cy="457200"/>
          </a:xfrm>
        </p:spPr>
        <p:txBody>
          <a:bodyPr/>
          <a:lstStyle/>
          <a:p>
            <a:r>
              <a:rPr lang="en-US" altLang="en-UG" dirty="0"/>
              <a:t>  Slide 32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8B22073-C2E9-B09E-8881-8E198CBC2A43}"/>
              </a:ext>
            </a:extLst>
          </p:cNvPr>
          <p:cNvSpPr txBox="1"/>
          <p:nvPr/>
        </p:nvSpPr>
        <p:spPr>
          <a:xfrm>
            <a:off x="2133600" y="5181600"/>
            <a:ext cx="67056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G" sz="1700" dirty="0">
                <a:hlinkClick r:id="rId2"/>
              </a:rPr>
              <a:t>https://github.com/Ainedembe-Denis/Systems-Programing---C-PROJECTS</a:t>
            </a:r>
            <a:r>
              <a:rPr lang="en-US" sz="1700" dirty="0"/>
              <a:t> </a:t>
            </a:r>
            <a:endParaRPr lang="en-UG" sz="17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B8E708-46B3-5301-BD95-14558F3635F3}"/>
              </a:ext>
            </a:extLst>
          </p:cNvPr>
          <p:cNvSpPr txBox="1"/>
          <p:nvPr/>
        </p:nvSpPr>
        <p:spPr>
          <a:xfrm>
            <a:off x="2189480" y="2971800"/>
            <a:ext cx="379476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fontAlgn="ctr"/>
            <a:r>
              <a:rPr lang="en-CA" sz="2400" b="1" i="0" u="none" strike="noStrike" dirty="0"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STUDENT </a:t>
            </a:r>
          </a:p>
          <a:p>
            <a:pPr marL="342900" indent="-342900" fontAlgn="ctr">
              <a:buFont typeface="Arial" panose="020B0604020202020204" pitchFamily="34" charset="0"/>
              <a:buChar char="•"/>
            </a:pPr>
            <a:r>
              <a:rPr lang="en-CA" sz="2400" i="0" u="none" strike="noStrike" dirty="0"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Ainedembe Denis</a:t>
            </a:r>
          </a:p>
          <a:p>
            <a:pPr marL="342900" indent="-342900" fontAlgn="ctr">
              <a:buFont typeface="Arial" panose="020B0604020202020204" pitchFamily="34" charset="0"/>
              <a:buChar char="•"/>
            </a:pPr>
            <a:endParaRPr lang="en-CA" b="1" dirty="0"/>
          </a:p>
          <a:p>
            <a:pPr fontAlgn="ctr"/>
            <a:r>
              <a:rPr lang="en-CA" b="1" dirty="0"/>
              <a:t>LECTURER </a:t>
            </a:r>
          </a:p>
          <a:p>
            <a:pPr marL="342900" indent="-342900" fontAlgn="ctr">
              <a:buFont typeface="Arial" panose="020B0604020202020204" pitchFamily="34" charset="0"/>
              <a:buChar char="•"/>
            </a:pPr>
            <a:r>
              <a:rPr lang="en-CA" dirty="0"/>
              <a:t>Dr. </a:t>
            </a:r>
            <a:r>
              <a:rPr lang="en-CA" dirty="0" err="1"/>
              <a:t>Wauyo</a:t>
            </a:r>
            <a:r>
              <a:rPr lang="en-CA" dirty="0"/>
              <a:t> Fred</a:t>
            </a:r>
          </a:p>
        </p:txBody>
      </p:sp>
    </p:spTree>
    <p:extLst>
      <p:ext uri="{BB962C8B-B14F-4D97-AF65-F5344CB8AC3E}">
        <p14:creationId xmlns:p14="http://schemas.microsoft.com/office/powerpoint/2010/main" val="4084543074"/>
      </p:ext>
    </p:extLst>
  </p:cSld>
  <p:clrMapOvr>
    <a:masterClrMapping/>
  </p:clrMapOvr>
  <p:transition spd="med">
    <p:cover dir="u"/>
  </p:transition>
</p:sld>
</file>

<file path=ppt/theme/theme1.xml><?xml version="1.0" encoding="utf-8"?>
<a:theme xmlns:a="http://schemas.openxmlformats.org/drawingml/2006/main" name="2002-04-20">
  <a:themeElements>
    <a:clrScheme name="2002-04-20 8">
      <a:dk1>
        <a:srgbClr val="000000"/>
      </a:dk1>
      <a:lt1>
        <a:srgbClr val="E0EDF0"/>
      </a:lt1>
      <a:dk2>
        <a:srgbClr val="003366"/>
      </a:dk2>
      <a:lt2>
        <a:srgbClr val="808080"/>
      </a:lt2>
      <a:accent1>
        <a:srgbClr val="FFCC00"/>
      </a:accent1>
      <a:accent2>
        <a:srgbClr val="FF0000"/>
      </a:accent2>
      <a:accent3>
        <a:srgbClr val="EDF4F6"/>
      </a:accent3>
      <a:accent4>
        <a:srgbClr val="000000"/>
      </a:accent4>
      <a:accent5>
        <a:srgbClr val="FFE2AA"/>
      </a:accent5>
      <a:accent6>
        <a:srgbClr val="E70000"/>
      </a:accent6>
      <a:hlink>
        <a:srgbClr val="0066CC"/>
      </a:hlink>
      <a:folHlink>
        <a:srgbClr val="008000"/>
      </a:folHlink>
    </a:clrScheme>
    <a:fontScheme name="2002-04-20">
      <a:majorFont>
        <a:latin typeface="Arial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2002-04-20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002-04-20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002-04-20 8">
        <a:dk1>
          <a:srgbClr val="000000"/>
        </a:dk1>
        <a:lt1>
          <a:srgbClr val="E0EDF0"/>
        </a:lt1>
        <a:dk2>
          <a:srgbClr val="003366"/>
        </a:dk2>
        <a:lt2>
          <a:srgbClr val="808080"/>
        </a:lt2>
        <a:accent1>
          <a:srgbClr val="FFCC00"/>
        </a:accent1>
        <a:accent2>
          <a:srgbClr val="FF0000"/>
        </a:accent2>
        <a:accent3>
          <a:srgbClr val="EDF4F6"/>
        </a:accent3>
        <a:accent4>
          <a:srgbClr val="000000"/>
        </a:accent4>
        <a:accent5>
          <a:srgbClr val="FFE2AA"/>
        </a:accent5>
        <a:accent6>
          <a:srgbClr val="E70000"/>
        </a:accent6>
        <a:hlink>
          <a:srgbClr val="0066CC"/>
        </a:hlink>
        <a:folHlink>
          <a:srgbClr val="008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C:\WINDOWS\Application Data\Microsoft\Templates\2002-04-20.pot</Template>
  <TotalTime>979</TotalTime>
  <Words>1280</Words>
  <Application>Microsoft Office PowerPoint</Application>
  <PresentationFormat>On-screen Show (4:3)</PresentationFormat>
  <Paragraphs>288</Paragraphs>
  <Slides>33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Wingdings</vt:lpstr>
      <vt:lpstr>Arial Narrow</vt:lpstr>
      <vt:lpstr>Times New Roman</vt:lpstr>
      <vt:lpstr>Arial</vt:lpstr>
      <vt:lpstr>2002-04-20</vt:lpstr>
      <vt:lpstr>ADVANCED SYSTEMS PROGRAMING</vt:lpstr>
      <vt:lpstr>Bank Account Management System </vt:lpstr>
      <vt:lpstr>User Authentication, Authorization &amp; Logging</vt:lpstr>
      <vt:lpstr>Actions</vt:lpstr>
      <vt:lpstr>Checks / Controls</vt:lpstr>
      <vt:lpstr>Audit Trail</vt:lpstr>
      <vt:lpstr>Loan Eligibility &amp; EMI Calculator</vt:lpstr>
      <vt:lpstr>Checks / Controls</vt:lpstr>
      <vt:lpstr>Library Management System</vt:lpstr>
      <vt:lpstr>Actions</vt:lpstr>
      <vt:lpstr>Actions</vt:lpstr>
      <vt:lpstr>Student Record Management System</vt:lpstr>
      <vt:lpstr>Actions - Add Student / Record Marks </vt:lpstr>
      <vt:lpstr>Actions</vt:lpstr>
      <vt:lpstr>Actions - Display Marks for a Student</vt:lpstr>
      <vt:lpstr>Hospital Patient Management System</vt:lpstr>
      <vt:lpstr>Actions – Create Doctor, Create Patient</vt:lpstr>
      <vt:lpstr>Actions – Create Appointment</vt:lpstr>
      <vt:lpstr>Actions – Diagnosis &amp; Billing</vt:lpstr>
      <vt:lpstr>Actions – View Patient History</vt:lpstr>
      <vt:lpstr>Actions – Update Bill items</vt:lpstr>
      <vt:lpstr>Pharmacy Inventory System</vt:lpstr>
      <vt:lpstr>Actions - Add Medicine</vt:lpstr>
      <vt:lpstr>Actions - Display Inventory, Check Expiry</vt:lpstr>
      <vt:lpstr>Actions - Sell Medicine</vt:lpstr>
      <vt:lpstr>Actions – Stock Refill, Show Total Sales</vt:lpstr>
      <vt:lpstr>Bus Reservation System </vt:lpstr>
      <vt:lpstr>Actions – Book a Seat, Seat Layout</vt:lpstr>
      <vt:lpstr>Actions –Passenger List, Cancel Booking</vt:lpstr>
      <vt:lpstr>Vehicle Fleet Management System</vt:lpstr>
      <vt:lpstr>Actions</vt:lpstr>
      <vt:lpstr>Actions 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BUSINESS OF BANKING</dc:title>
  <dc:creator>Ainedembe Denis</dc:creator>
  <cp:lastModifiedBy>Ainedembe Denis</cp:lastModifiedBy>
  <cp:revision>250</cp:revision>
  <dcterms:created xsi:type="dcterms:W3CDTF">2002-04-20T20:58:21Z</dcterms:created>
  <dcterms:modified xsi:type="dcterms:W3CDTF">2026-03-06T19:49:07Z</dcterms:modified>
</cp:coreProperties>
</file>